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sldIdLst>
    <p:sldId id="256" r:id="rId1"/>
    <p:sldId id="257" r:id="rId2"/>
    <p:sldId id="258" r:id="rId3"/>
  </p:sldIdLst>
  <p:sldSz cx="12192000" cy="68580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Master" Target="slideMasters/slideMaster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3.png"/><Relationship Id="rId8" Type="http://schemas.openxmlformats.org/officeDocument/2006/relationships/image" Target="../media/image4.png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1" Type="http://schemas.openxmlformats.org/officeDocument/2006/relationships/image" Target="../media/image5.png"/><Relationship Id="rId12" Type="http://schemas.openxmlformats.org/officeDocument/2006/relationships/image" Target="../media/image6.png"/><Relationship Id="rId13" Type="http://schemas.openxmlformats.org/officeDocument/2006/relationships/image" Target="../media/image7.png"/><Relationship Id="rId14" Type="http://schemas.openxmlformats.org/officeDocument/2006/relationships/image" Target="../media/image8.png"/><Relationship Id="rId15" Type="http://schemas.openxmlformats.org/officeDocument/2006/relationships/image" Target="../media/image9.png"/><Relationship Id="rId16" Type="http://schemas.openxmlformats.org/officeDocument/2006/relationships/image" Target="../media/image10.png"/><Relationship Id="rId17" Type="http://schemas.openxmlformats.org/officeDocument/2006/relationships/image" Target="../media/image10.png"/><Relationship Id="rId18" Type="http://schemas.openxmlformats.org/officeDocument/2006/relationships/image" Target="../media/image11.png"/><Relationship Id="rId19" Type="http://schemas.openxmlformats.org/officeDocument/2006/relationships/image" Target="../media/image11.png"/><Relationship Id="rId20" Type="http://schemas.openxmlformats.org/officeDocument/2006/relationships/image" Target="../media/image11.png"/><Relationship Id="rId21" Type="http://schemas.openxmlformats.org/officeDocument/2006/relationships/image" Target="../media/image11.png"/><Relationship Id="rId22" Type="http://schemas.openxmlformats.org/officeDocument/2006/relationships/image" Target="../media/image12.png"/><Relationship Id="rId23" Type="http://schemas.openxmlformats.org/officeDocument/2006/relationships/image" Target="../media/image12.png"/><Relationship Id="rId24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Title rule"/>
          <p:cNvSpPr/>
          <p:nvPr/>
        </p:nvSpPr>
        <p:spPr>
          <a:xfrm>
            <a:off x="566928" y="960120"/>
            <a:ext cx="73152" cy="2331720"/>
          </a:xfrm>
          <a:prstGeom prst="rect">
            <a:avLst/>
          </a:prstGeom>
          <a:solidFill>
            <a:srgbClr val="C74634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822960" y="914400"/>
            <a:ext cx="9966960" cy="82296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45720" rIns="45720" bIns="45720">
            <a:normAutofit/>
          </a:bodyPr>
          <a:lstStyle/>
          <a:p>
            <a:pPr algn="l"/>
            <a:r>
              <a:rPr lang="en-US" sz="3100" b="1">
                <a:solidFill>
                  <a:srgbClr val="111827"/>
                </a:solidFill>
                <a:latin typeface="Aptos"/>
                <a:ea typeface="Malgun Gothic"/>
              </a:rPr>
              <a:t>OCI HA Architecture with WAF and Data Guard</a:t>
            </a:r>
            <a:endParaRPr lang="en-US" sz="3100"/>
          </a:p>
        </p:txBody>
      </p:sp>
      <p:sp>
        <p:nvSpPr>
          <p:cNvPr id="5" name="Scope"/>
          <p:cNvSpPr txBox="1"/>
          <p:nvPr/>
        </p:nvSpPr>
        <p:spPr>
          <a:xfrm>
            <a:off x="841248" y="1828800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45720" rIns="45720" bIns="45720">
            <a:normAutofit/>
          </a:bodyPr>
          <a:lstStyle/>
          <a:p>
            <a:pPr algn="l"/>
            <a:r>
              <a:rPr lang="en-US" sz="1500">
                <a:solidFill>
                  <a:srgbClr val="374151"/>
                </a:solidFill>
                <a:latin typeface="Aptos"/>
                <a:ea typeface="Malgun Gothic"/>
              </a:rPr>
              <a:t>Seoul (ap-seoul-1) - HA Application VCN</a:t>
            </a:r>
            <a:endParaRPr lang="en-US" sz="1500"/>
          </a:p>
        </p:txBody>
      </p:sp>
      <p:sp>
        <p:nvSpPr>
          <p:cNvPr id="6" name="Deck shape"/>
          <p:cNvSpPr txBox="1"/>
          <p:nvPr/>
        </p:nvSpPr>
        <p:spPr>
          <a:xfrm>
            <a:off x="841248" y="2743200"/>
            <a:ext cx="768096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45720" rIns="45720" bIns="45720">
            <a:normAutofit/>
          </a:bodyPr>
          <a:lstStyle/>
          <a:p>
            <a:pPr algn="l"/>
            <a:r>
              <a:rPr lang="en-US" sz="1300">
                <a:solidFill>
                  <a:srgbClr val="4B5563"/>
                </a:solidFill>
                <a:latin typeface="Aptos"/>
                <a:ea typeface="Malgun Gothic"/>
              </a:rPr>
              <a:t>Editable OCI architecture deck: title, diagram, assumptions and notes.</a:t>
            </a:r>
            <a:endParaRPr lang="en-US" sz="1300"/>
          </a:p>
        </p:txBody>
      </p:sp>
      <p:sp>
        <p:nvSpPr>
          <p:cNvPr id="7" name="Model summary"/>
          <p:cNvSpPr txBox="1"/>
          <p:nvPr/>
        </p:nvSpPr>
        <p:spPr>
          <a:xfrm>
            <a:off x="841248" y="4663440"/>
            <a:ext cx="9875520" cy="109728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45720" rIns="45720" bIns="45720">
            <a:normAutofit/>
          </a:bodyPr>
          <a:lstStyle/>
          <a:p>
            <a:pPr algn="l"/>
            <a:r>
              <a:rPr lang="en-US" sz="1100">
                <a:solidFill>
                  <a:srgbClr val="374151"/>
                </a:solidFill>
                <a:latin typeface="Aptos"/>
                <a:ea typeface="Malgun Gothic"/>
              </a:rPr>
              <a:t>Subnets: 4</a:t>
            </a:r>
            <a:endParaRPr lang="en-US" sz="1100"/>
          </a:p>
          <a:p>
            <a:pPr algn="l"/>
            <a:r>
              <a:rPr lang="en-US" sz="1100">
                <a:solidFill>
                  <a:srgbClr val="374151"/>
                </a:solidFill>
                <a:latin typeface="Aptos"/>
                <a:ea typeface="Malgun Gothic"/>
              </a:rPr>
              <a:t>Resources: 9</a:t>
            </a:r>
            <a:endParaRPr lang="en-US" sz="1100"/>
          </a:p>
          <a:p>
            <a:pPr algn="l"/>
            <a:r>
              <a:rPr lang="en-US" sz="1100">
                <a:solidFill>
                  <a:srgbClr val="374151"/>
                </a:solidFill>
                <a:latin typeface="Aptos"/>
                <a:ea typeface="Malgun Gothic"/>
              </a:rPr>
              <a:t>VCN-level gateways: 3</a:t>
            </a:r>
            <a:endParaRPr lang="en-US" sz="1100"/>
          </a:p>
          <a:p>
            <a:pPr algn="l"/>
            <a:r>
              <a:rPr lang="en-US" sz="1100">
                <a:solidFill>
                  <a:srgbClr val="374151"/>
                </a:solidFill>
                <a:latin typeface="Aptos"/>
                <a:ea typeface="Malgun Gothic"/>
              </a:rPr>
              <a:t>External networks: 0</a:t>
            </a:r>
            <a:endParaRPr lang="en-US" sz="1100"/>
          </a:p>
          <a:p>
            <a:pPr algn="l"/>
            <a:r>
              <a:rPr lang="en-US" sz="1100">
                <a:solidFill>
                  <a:srgbClr val="374151"/>
                </a:solidFill>
                <a:latin typeface="Aptos"/>
                <a:ea typeface="Malgun Gothic"/>
              </a:rPr>
              <a:t>Network connections: 0</a:t>
            </a:r>
            <a:endParaRPr lang="en-US" sz="1100"/>
          </a:p>
        </p:txBody>
      </p:sp>
      <p:sp>
        <p:nvSpPr>
          <p:cNvPr id="8" name="Footer"/>
          <p:cNvSpPr txBox="1"/>
          <p:nvPr/>
        </p:nvSpPr>
        <p:spPr>
          <a:xfrm>
            <a:off x="841248" y="6263640"/>
            <a:ext cx="98755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45720" rIns="45720" bIns="45720">
            <a:normAutofit/>
          </a:bodyPr>
          <a:lstStyle/>
          <a:p>
            <a:pPr algn="l"/>
            <a:r>
              <a:rPr lang="en-US" sz="800">
                <a:solidFill>
                  <a:srgbClr val="6B7280"/>
                </a:solidFill>
                <a:latin typeface="Aptos"/>
                <a:ea typeface="Malgun Gothic"/>
              </a:rPr>
              <a:t>Generated by skills/oci-arch-pptx/scripts/generate_pptx.py</a:t>
            </a:r>
            <a:endParaRPr lang="en-US" sz="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Diagram title"/>
          <p:cNvSpPr txBox="1"/>
          <p:nvPr/>
        </p:nvSpPr>
        <p:spPr>
          <a:xfrm>
            <a:off x="320040" y="146304"/>
            <a:ext cx="1106424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45720" rIns="45720" bIns="45720">
            <a:normAutofit/>
          </a:bodyPr>
          <a:lstStyle/>
          <a:p>
            <a:pPr algn="l"/>
            <a:r>
              <a:rPr lang="en-US" sz="1500" b="1">
                <a:solidFill>
                  <a:srgbClr val="111827"/>
                </a:solidFill>
                <a:latin typeface="Aptos"/>
                <a:ea typeface="Malgun Gothic"/>
              </a:rPr>
              <a:t>OCI HA Architecture with WAF and Data Guard</a:t>
            </a:r>
            <a:endParaRPr lang="en-US" sz="1500"/>
          </a:p>
        </p:txBody>
      </p:sp>
      <p:sp>
        <p:nvSpPr>
          <p:cNvPr id="4" name="Region boundary"/>
          <p:cNvSpPr/>
          <p:nvPr/>
        </p:nvSpPr>
        <p:spPr>
          <a:xfrm>
            <a:off x="1051560" y="676656"/>
            <a:ext cx="10652760" cy="5486400"/>
          </a:xfrm>
          <a:prstGeom prst="roundRect">
            <a:avLst>
              <a:gd name="adj" fmla="val 2000"/>
            </a:avLst>
          </a:prstGeom>
          <a:solidFill>
            <a:srgbClr val="F5F4F2"/>
          </a:solidFill>
          <a:ln w="12700">
            <a:solidFill>
              <a:srgbClr val="9E9892"/>
            </a:solidFill>
          </a:ln>
        </p:spPr>
      </p:sp>
      <p:sp>
        <p:nvSpPr>
          <p:cNvPr id="5" name="Region boundary label"/>
          <p:cNvSpPr txBox="1"/>
          <p:nvPr/>
        </p:nvSpPr>
        <p:spPr>
          <a:xfrm>
            <a:off x="1216152" y="749808"/>
            <a:ext cx="10323576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45720" rIns="45720" bIns="45720">
            <a:normAutofit/>
          </a:bodyPr>
          <a:lstStyle/>
          <a:p>
            <a:pPr algn="ctr"/>
            <a:r>
              <a:rPr lang="en-US" sz="1050" b="1">
                <a:solidFill>
                  <a:srgbClr val="312D2A"/>
                </a:solidFill>
                <a:latin typeface="Aptos"/>
                <a:ea typeface="Malgun Gothic"/>
              </a:rPr>
              <a:t>OCI Region: ap-seoul-1</a:t>
            </a:r>
            <a:endParaRPr lang="en-US" sz="1050"/>
          </a:p>
        </p:txBody>
      </p:sp>
      <p:sp>
        <p:nvSpPr>
          <p:cNvPr id="6" name="VCN boundary"/>
          <p:cNvSpPr/>
          <p:nvPr/>
        </p:nvSpPr>
        <p:spPr>
          <a:xfrm>
            <a:off x="1993392" y="1115568"/>
            <a:ext cx="8183880" cy="4617720"/>
          </a:xfrm>
          <a:prstGeom prst="rect">
            <a:avLst/>
          </a:prstGeom>
          <a:noFill/>
          <a:ln w="25400">
            <a:solidFill>
              <a:srgbClr val="AE562C"/>
            </a:solidFill>
            <a:prstDash val="dash"/>
          </a:ln>
        </p:spPr>
      </p:sp>
      <p:sp>
        <p:nvSpPr>
          <p:cNvPr id="7" name="VCN boundary label"/>
          <p:cNvSpPr txBox="1"/>
          <p:nvPr/>
        </p:nvSpPr>
        <p:spPr>
          <a:xfrm>
            <a:off x="2121408" y="1188720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45720" rIns="45720" bIns="45720">
            <a:normAutofit/>
          </a:bodyPr>
          <a:lstStyle/>
          <a:p>
            <a:pPr algn="l"/>
            <a:r>
              <a:rPr lang="en-US" sz="1000" b="1">
                <a:solidFill>
                  <a:srgbClr val="AE562C"/>
                </a:solidFill>
                <a:latin typeface="Aptos"/>
                <a:ea typeface="Malgun Gothic"/>
              </a:rPr>
              <a:t>HA Application VCN 10.0.0.0/16</a:t>
            </a:r>
            <a:endParaRPr lang="en-US" sz="1000"/>
          </a:p>
        </p:txBody>
      </p:sp>
      <p:pic>
        <p:nvPicPr>
          <p:cNvPr id="8" name="VCN bad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0112" y="978408"/>
            <a:ext cx="274320" cy="274320"/>
          </a:xfrm>
          <a:prstGeom prst="rect">
            <a:avLst/>
          </a:prstGeom>
        </p:spPr>
      </p:pic>
      <p:sp>
        <p:nvSpPr>
          <p:cNvPr id="9" name="Oracle Service Network boundary"/>
          <p:cNvSpPr/>
          <p:nvPr/>
        </p:nvSpPr>
        <p:spPr>
          <a:xfrm>
            <a:off x="10652760" y="1115568"/>
            <a:ext cx="777240" cy="4617720"/>
          </a:xfrm>
          <a:prstGeom prst="rect">
            <a:avLst/>
          </a:prstGeom>
          <a:solidFill>
            <a:srgbClr val="FCFBFA"/>
          </a:solidFill>
          <a:ln w="12700">
            <a:solidFill>
              <a:srgbClr val="9E9892"/>
            </a:solidFill>
          </a:ln>
        </p:spPr>
      </p:sp>
      <p:sp>
        <p:nvSpPr>
          <p:cNvPr id="10" name="Oracle Service Network boundary label"/>
          <p:cNvSpPr txBox="1"/>
          <p:nvPr/>
        </p:nvSpPr>
        <p:spPr>
          <a:xfrm>
            <a:off x="10707624" y="1225296"/>
            <a:ext cx="667512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45720" rIns="45720" bIns="45720">
            <a:normAutofit/>
          </a:bodyPr>
          <a:lstStyle/>
          <a:p>
            <a:pPr algn="ctr"/>
            <a:r>
              <a:rPr lang="en-US" sz="800" b="1">
                <a:solidFill>
                  <a:srgbClr val="312D2A"/>
                </a:solidFill>
                <a:latin typeface="Aptos"/>
                <a:ea typeface="Malgun Gothic"/>
              </a:rPr>
              <a:t>OSN</a:t>
            </a:r>
            <a:endParaRPr lang="en-US" sz="800"/>
          </a:p>
        </p:txBody>
      </p:sp>
      <p:pic>
        <p:nvPicPr>
          <p:cNvPr id="11" name="Icon Object Stor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1924" y="2029968"/>
            <a:ext cx="438912" cy="438912"/>
          </a:xfrm>
          <a:prstGeom prst="rect">
            <a:avLst/>
          </a:prstGeom>
        </p:spPr>
      </p:pic>
      <p:sp>
        <p:nvSpPr>
          <p:cNvPr id="12" name="Label Object Storage"/>
          <p:cNvSpPr txBox="1"/>
          <p:nvPr/>
        </p:nvSpPr>
        <p:spPr>
          <a:xfrm>
            <a:off x="10689336" y="2496312"/>
            <a:ext cx="704088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" tIns="9144" rIns="9144" bIns="9144">
            <a:normAutofit/>
          </a:bodyPr>
          <a:lstStyle/>
          <a:p>
            <a:pPr algn="ctr"/>
            <a:r>
              <a:rPr lang="en-US" sz="700">
                <a:solidFill>
                  <a:srgbClr val="111827"/>
                </a:solidFill>
                <a:latin typeface="Aptos"/>
                <a:ea typeface="Malgun Gothic"/>
              </a:rPr>
              <a:t>Object Storage</a:t>
            </a:r>
            <a:endParaRPr lang="en-US" sz="700"/>
          </a:p>
        </p:txBody>
      </p:sp>
      <p:sp>
        <p:nvSpPr>
          <p:cNvPr id="13" name="Subnet 1"/>
          <p:cNvSpPr/>
          <p:nvPr/>
        </p:nvSpPr>
        <p:spPr>
          <a:xfrm>
            <a:off x="2340864" y="1664208"/>
            <a:ext cx="3643884" cy="1828800"/>
          </a:xfrm>
          <a:prstGeom prst="rect">
            <a:avLst/>
          </a:prstGeom>
          <a:noFill/>
          <a:ln w="12700">
            <a:solidFill>
              <a:srgbClr val="AE562C"/>
            </a:solidFill>
            <a:prstDash val="dash"/>
          </a:ln>
        </p:spPr>
      </p:sp>
      <p:sp>
        <p:nvSpPr>
          <p:cNvPr id="14" name="Subnet 1 label"/>
          <p:cNvSpPr txBox="1"/>
          <p:nvPr/>
        </p:nvSpPr>
        <p:spPr>
          <a:xfrm>
            <a:off x="2450592" y="1737360"/>
            <a:ext cx="3424428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45720" rIns="45720" bIns="45720">
            <a:normAutofit/>
          </a:bodyPr>
          <a:lstStyle/>
          <a:p>
            <a:pPr algn="l"/>
            <a:r>
              <a:rPr lang="en-US" sz="800" b="1">
                <a:solidFill>
                  <a:srgbClr val="AE562C"/>
                </a:solidFill>
                <a:latin typeface="Aptos"/>
                <a:ea typeface="Malgun Gothic"/>
              </a:rPr>
              <a:t>Public Edge Subnet - Public - Edge | 10.0.1.0/24</a:t>
            </a:r>
            <a:endParaRPr lang="en-US" sz="800"/>
          </a:p>
        </p:txBody>
      </p:sp>
      <p:pic>
        <p:nvPicPr>
          <p:cNvPr id="15" name="Subnet 1 route table bad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2684" y="1719072"/>
            <a:ext cx="210312" cy="210312"/>
          </a:xfrm>
          <a:prstGeom prst="rect">
            <a:avLst/>
          </a:prstGeom>
        </p:spPr>
      </p:pic>
      <p:pic>
        <p:nvPicPr>
          <p:cNvPr id="16" name="Subnet 1 security list bad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7860" y="1719072"/>
            <a:ext cx="210312" cy="210312"/>
          </a:xfrm>
          <a:prstGeom prst="rect">
            <a:avLst/>
          </a:prstGeom>
        </p:spPr>
      </p:pic>
      <p:sp>
        <p:nvSpPr>
          <p:cNvPr id="17" name="Subnet 2"/>
          <p:cNvSpPr/>
          <p:nvPr/>
        </p:nvSpPr>
        <p:spPr>
          <a:xfrm>
            <a:off x="2340864" y="3675888"/>
            <a:ext cx="3643884" cy="1828800"/>
          </a:xfrm>
          <a:prstGeom prst="rect">
            <a:avLst/>
          </a:prstGeom>
          <a:noFill/>
          <a:ln w="12700">
            <a:solidFill>
              <a:srgbClr val="AE562C"/>
            </a:solidFill>
            <a:prstDash val="dash"/>
          </a:ln>
        </p:spPr>
      </p:sp>
      <p:sp>
        <p:nvSpPr>
          <p:cNvPr id="18" name="Subnet 2 label"/>
          <p:cNvSpPr txBox="1"/>
          <p:nvPr/>
        </p:nvSpPr>
        <p:spPr>
          <a:xfrm>
            <a:off x="2450592" y="3749040"/>
            <a:ext cx="3424428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45720" rIns="45720" bIns="45720">
            <a:normAutofit/>
          </a:bodyPr>
          <a:lstStyle/>
          <a:p>
            <a:pPr algn="l"/>
            <a:r>
              <a:rPr lang="en-US" sz="800" b="1">
                <a:solidFill>
                  <a:srgbClr val="AE562C"/>
                </a:solidFill>
                <a:latin typeface="Aptos"/>
                <a:ea typeface="Malgun Gothic"/>
              </a:rPr>
              <a:t>Private App Subnet - Private - App | 10.0.3.0/24</a:t>
            </a:r>
            <a:endParaRPr lang="en-US" sz="800"/>
          </a:p>
        </p:txBody>
      </p:sp>
      <p:pic>
        <p:nvPicPr>
          <p:cNvPr id="19" name="Subnet 2 route table bad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2684" y="3730752"/>
            <a:ext cx="210312" cy="210312"/>
          </a:xfrm>
          <a:prstGeom prst="rect">
            <a:avLst/>
          </a:prstGeom>
        </p:spPr>
      </p:pic>
      <p:pic>
        <p:nvPicPr>
          <p:cNvPr id="20" name="Subnet 2 security list bad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37860" y="3730752"/>
            <a:ext cx="210312" cy="210312"/>
          </a:xfrm>
          <a:prstGeom prst="rect">
            <a:avLst/>
          </a:prstGeom>
        </p:spPr>
      </p:pic>
      <p:sp>
        <p:nvSpPr>
          <p:cNvPr id="21" name="Subnet 3"/>
          <p:cNvSpPr/>
          <p:nvPr/>
        </p:nvSpPr>
        <p:spPr>
          <a:xfrm>
            <a:off x="6185916" y="1664208"/>
            <a:ext cx="3643884" cy="1828800"/>
          </a:xfrm>
          <a:prstGeom prst="rect">
            <a:avLst/>
          </a:prstGeom>
          <a:noFill/>
          <a:ln w="12700">
            <a:solidFill>
              <a:srgbClr val="AE562C"/>
            </a:solidFill>
            <a:prstDash val="dash"/>
          </a:ln>
        </p:spPr>
      </p:sp>
      <p:sp>
        <p:nvSpPr>
          <p:cNvPr id="22" name="Subnet 3 label"/>
          <p:cNvSpPr txBox="1"/>
          <p:nvPr/>
        </p:nvSpPr>
        <p:spPr>
          <a:xfrm>
            <a:off x="6295644" y="1737360"/>
            <a:ext cx="3424428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45720" rIns="45720" bIns="45720">
            <a:normAutofit/>
          </a:bodyPr>
          <a:lstStyle/>
          <a:p>
            <a:pPr algn="l"/>
            <a:r>
              <a:rPr lang="en-US" sz="800" b="1">
                <a:solidFill>
                  <a:srgbClr val="AE562C"/>
                </a:solidFill>
                <a:latin typeface="Aptos"/>
                <a:ea typeface="Malgun Gothic"/>
              </a:rPr>
              <a:t>Private Web Subnet - Private - App | 10.0.2.0/24</a:t>
            </a:r>
            <a:endParaRPr lang="en-US" sz="800"/>
          </a:p>
        </p:txBody>
      </p:sp>
      <p:pic>
        <p:nvPicPr>
          <p:cNvPr id="23" name="Subnet 3 route table bad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17736" y="1719072"/>
            <a:ext cx="210312" cy="210312"/>
          </a:xfrm>
          <a:prstGeom prst="rect">
            <a:avLst/>
          </a:prstGeom>
        </p:spPr>
      </p:pic>
      <p:pic>
        <p:nvPicPr>
          <p:cNvPr id="24" name="Subnet 3 security list badg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82912" y="1719072"/>
            <a:ext cx="210312" cy="210312"/>
          </a:xfrm>
          <a:prstGeom prst="rect">
            <a:avLst/>
          </a:prstGeom>
        </p:spPr>
      </p:pic>
      <p:sp>
        <p:nvSpPr>
          <p:cNvPr id="25" name="Subnet 4"/>
          <p:cNvSpPr/>
          <p:nvPr/>
        </p:nvSpPr>
        <p:spPr>
          <a:xfrm>
            <a:off x="6185916" y="3675888"/>
            <a:ext cx="3643884" cy="1828800"/>
          </a:xfrm>
          <a:prstGeom prst="rect">
            <a:avLst/>
          </a:prstGeom>
          <a:noFill/>
          <a:ln w="12700">
            <a:solidFill>
              <a:srgbClr val="AE562C"/>
            </a:solidFill>
            <a:prstDash val="dash"/>
          </a:ln>
        </p:spPr>
      </p:sp>
      <p:sp>
        <p:nvSpPr>
          <p:cNvPr id="26" name="Subnet 4 label"/>
          <p:cNvSpPr txBox="1"/>
          <p:nvPr/>
        </p:nvSpPr>
        <p:spPr>
          <a:xfrm>
            <a:off x="6295644" y="3749040"/>
            <a:ext cx="3424428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45720" rIns="45720" bIns="45720">
            <a:normAutofit/>
          </a:bodyPr>
          <a:lstStyle/>
          <a:p>
            <a:pPr algn="l"/>
            <a:r>
              <a:rPr lang="en-US" sz="800" b="1">
                <a:solidFill>
                  <a:srgbClr val="AE562C"/>
                </a:solidFill>
                <a:latin typeface="Aptos"/>
                <a:ea typeface="Malgun Gothic"/>
              </a:rPr>
              <a:t>Private DB Subnet - Private - Data | 10.0.4.0/24</a:t>
            </a:r>
            <a:endParaRPr lang="en-US" sz="800"/>
          </a:p>
        </p:txBody>
      </p:sp>
      <p:pic>
        <p:nvPicPr>
          <p:cNvPr id="27" name="Subnet 4 route table badg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17736" y="3730752"/>
            <a:ext cx="210312" cy="210312"/>
          </a:xfrm>
          <a:prstGeom prst="rect">
            <a:avLst/>
          </a:prstGeom>
        </p:spPr>
      </p:pic>
      <p:pic>
        <p:nvPicPr>
          <p:cNvPr id="28" name="Subnet 4 security list badg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82912" y="3730752"/>
            <a:ext cx="210312" cy="210312"/>
          </a:xfrm>
          <a:prstGeom prst="rect">
            <a:avLst/>
          </a:prstGeom>
        </p:spPr>
      </p:pic>
      <p:pic>
        <p:nvPicPr>
          <p:cNvPr id="29" name="Icon Internet Users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0896" y="2359152"/>
            <a:ext cx="438912" cy="438912"/>
          </a:xfrm>
          <a:prstGeom prst="rect">
            <a:avLst/>
          </a:prstGeom>
        </p:spPr>
      </p:pic>
      <p:sp>
        <p:nvSpPr>
          <p:cNvPr id="30" name="Label Internet Users"/>
          <p:cNvSpPr txBox="1"/>
          <p:nvPr/>
        </p:nvSpPr>
        <p:spPr>
          <a:xfrm>
            <a:off x="18288" y="2825496"/>
            <a:ext cx="1024128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" tIns="9144" rIns="9144" bIns="9144">
            <a:normAutofit/>
          </a:bodyPr>
          <a:lstStyle/>
          <a:p>
            <a:pPr algn="ctr"/>
            <a:r>
              <a:rPr lang="en-US" sz="700">
                <a:solidFill>
                  <a:srgbClr val="111827"/>
                </a:solidFill>
                <a:latin typeface="Aptos"/>
                <a:ea typeface="Malgun Gothic"/>
              </a:rPr>
              <a:t>Internet Users</a:t>
            </a:r>
            <a:endParaRPr lang="en-US" sz="700"/>
          </a:p>
        </p:txBody>
      </p:sp>
      <p:pic>
        <p:nvPicPr>
          <p:cNvPr id="31" name="Icon IGW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80160" y="2386584"/>
            <a:ext cx="438912" cy="438912"/>
          </a:xfrm>
          <a:prstGeom prst="rect">
            <a:avLst/>
          </a:prstGeom>
        </p:spPr>
      </p:pic>
      <p:sp>
        <p:nvSpPr>
          <p:cNvPr id="32" name="Label IGW"/>
          <p:cNvSpPr txBox="1"/>
          <p:nvPr/>
        </p:nvSpPr>
        <p:spPr>
          <a:xfrm>
            <a:off x="1019556" y="2852928"/>
            <a:ext cx="96012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" tIns="9144" rIns="9144" bIns="9144">
            <a:normAutofit/>
          </a:bodyPr>
          <a:lstStyle/>
          <a:p>
            <a:pPr algn="ctr"/>
            <a:r>
              <a:rPr lang="en-US" sz="700">
                <a:solidFill>
                  <a:srgbClr val="111827"/>
                </a:solidFill>
                <a:latin typeface="Aptos"/>
                <a:ea typeface="Malgun Gothic"/>
              </a:rPr>
              <a:t>IGW</a:t>
            </a:r>
            <a:endParaRPr lang="en-US" sz="700"/>
          </a:p>
        </p:txBody>
      </p:sp>
      <p:pic>
        <p:nvPicPr>
          <p:cNvPr id="33" name="Icon NAT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80160" y="4398264"/>
            <a:ext cx="438912" cy="438912"/>
          </a:xfrm>
          <a:prstGeom prst="rect">
            <a:avLst/>
          </a:prstGeom>
        </p:spPr>
      </p:pic>
      <p:sp>
        <p:nvSpPr>
          <p:cNvPr id="34" name="Label NAT"/>
          <p:cNvSpPr txBox="1"/>
          <p:nvPr/>
        </p:nvSpPr>
        <p:spPr>
          <a:xfrm>
            <a:off x="1019556" y="4864608"/>
            <a:ext cx="960120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" tIns="9144" rIns="9144" bIns="9144">
            <a:normAutofit/>
          </a:bodyPr>
          <a:lstStyle/>
          <a:p>
            <a:pPr algn="ctr"/>
            <a:r>
              <a:rPr lang="en-US" sz="700">
                <a:solidFill>
                  <a:srgbClr val="111827"/>
                </a:solidFill>
                <a:latin typeface="Aptos"/>
                <a:ea typeface="Malgun Gothic"/>
              </a:rPr>
              <a:t>NAT</a:t>
            </a:r>
            <a:endParaRPr lang="en-US" sz="700"/>
          </a:p>
        </p:txBody>
      </p:sp>
      <p:pic>
        <p:nvPicPr>
          <p:cNvPr id="35" name="Icon SGW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213848" y="4398264"/>
            <a:ext cx="438912" cy="438912"/>
          </a:xfrm>
          <a:prstGeom prst="rect">
            <a:avLst/>
          </a:prstGeom>
        </p:spPr>
      </p:pic>
      <p:sp>
        <p:nvSpPr>
          <p:cNvPr id="36" name="Label SGW"/>
          <p:cNvSpPr txBox="1"/>
          <p:nvPr/>
        </p:nvSpPr>
        <p:spPr>
          <a:xfrm>
            <a:off x="10149840" y="4864608"/>
            <a:ext cx="566928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" tIns="9144" rIns="9144" bIns="9144">
            <a:normAutofit/>
          </a:bodyPr>
          <a:lstStyle/>
          <a:p>
            <a:pPr algn="ctr"/>
            <a:r>
              <a:rPr lang="en-US" sz="700">
                <a:solidFill>
                  <a:srgbClr val="111827"/>
                </a:solidFill>
                <a:latin typeface="Aptos"/>
                <a:ea typeface="Malgun Gothic"/>
              </a:rPr>
              <a:t>SGW</a:t>
            </a:r>
            <a:endParaRPr lang="en-US" sz="700"/>
          </a:p>
        </p:txBody>
      </p:sp>
      <p:pic>
        <p:nvPicPr>
          <p:cNvPr id="37" name="Icon WAF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178683" y="2359152"/>
            <a:ext cx="438912" cy="438912"/>
          </a:xfrm>
          <a:prstGeom prst="rect">
            <a:avLst/>
          </a:prstGeom>
        </p:spPr>
      </p:pic>
      <p:sp>
        <p:nvSpPr>
          <p:cNvPr id="38" name="Label WAF"/>
          <p:cNvSpPr txBox="1"/>
          <p:nvPr/>
        </p:nvSpPr>
        <p:spPr>
          <a:xfrm>
            <a:off x="2633472" y="2825496"/>
            <a:ext cx="1529334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" tIns="9144" rIns="9144" bIns="9144">
            <a:normAutofit/>
          </a:bodyPr>
          <a:lstStyle/>
          <a:p>
            <a:pPr algn="ctr"/>
            <a:r>
              <a:rPr lang="en-US" sz="700">
                <a:solidFill>
                  <a:srgbClr val="111827"/>
                </a:solidFill>
                <a:latin typeface="Aptos"/>
                <a:ea typeface="Malgun Gothic"/>
              </a:rPr>
              <a:t>WAF</a:t>
            </a:r>
            <a:endParaRPr lang="en-US" sz="700"/>
          </a:p>
        </p:txBody>
      </p:sp>
      <p:pic>
        <p:nvPicPr>
          <p:cNvPr id="39" name="Icon Public LoadBalancer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708017" y="2359152"/>
            <a:ext cx="438912" cy="438912"/>
          </a:xfrm>
          <a:prstGeom prst="rect">
            <a:avLst/>
          </a:prstGeom>
        </p:spPr>
      </p:pic>
      <p:sp>
        <p:nvSpPr>
          <p:cNvPr id="40" name="Label Public LoadBalancer"/>
          <p:cNvSpPr txBox="1"/>
          <p:nvPr/>
        </p:nvSpPr>
        <p:spPr>
          <a:xfrm>
            <a:off x="4162806" y="2825496"/>
            <a:ext cx="1529334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" tIns="9144" rIns="9144" bIns="9144">
            <a:normAutofit/>
          </a:bodyPr>
          <a:lstStyle/>
          <a:p>
            <a:pPr algn="ctr"/>
            <a:r>
              <a:rPr lang="en-US" sz="700">
                <a:solidFill>
                  <a:srgbClr val="111827"/>
                </a:solidFill>
                <a:latin typeface="Aptos"/>
                <a:ea typeface="Malgun Gothic"/>
              </a:rPr>
              <a:t>Public LoadBalancer</a:t>
            </a:r>
            <a:endParaRPr lang="en-US" sz="700"/>
          </a:p>
        </p:txBody>
      </p:sp>
      <p:pic>
        <p:nvPicPr>
          <p:cNvPr id="41" name="Icon Private App LoadBalancer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923794" y="4370832"/>
            <a:ext cx="438912" cy="438912"/>
          </a:xfrm>
          <a:prstGeom prst="rect">
            <a:avLst/>
          </a:prstGeom>
        </p:spPr>
      </p:pic>
      <p:sp>
        <p:nvSpPr>
          <p:cNvPr id="42" name="Label Private App LoadBalancer"/>
          <p:cNvSpPr txBox="1"/>
          <p:nvPr/>
        </p:nvSpPr>
        <p:spPr>
          <a:xfrm>
            <a:off x="2633472" y="4837176"/>
            <a:ext cx="1019556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" tIns="9144" rIns="9144" bIns="9144">
            <a:normAutofit/>
          </a:bodyPr>
          <a:lstStyle/>
          <a:p>
            <a:pPr algn="ctr"/>
            <a:r>
              <a:rPr lang="en-US" sz="700">
                <a:solidFill>
                  <a:srgbClr val="111827"/>
                </a:solidFill>
                <a:latin typeface="Aptos"/>
                <a:ea typeface="Malgun Gothic"/>
              </a:rPr>
              <a:t>Private App LoadBalancer</a:t>
            </a:r>
            <a:endParaRPr lang="en-US" sz="700"/>
          </a:p>
        </p:txBody>
      </p:sp>
      <p:pic>
        <p:nvPicPr>
          <p:cNvPr id="43" name="Icon App Server 1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943350" y="4370832"/>
            <a:ext cx="438912" cy="438912"/>
          </a:xfrm>
          <a:prstGeom prst="rect">
            <a:avLst/>
          </a:prstGeom>
        </p:spPr>
      </p:pic>
      <p:sp>
        <p:nvSpPr>
          <p:cNvPr id="44" name="Label App Server 1"/>
          <p:cNvSpPr txBox="1"/>
          <p:nvPr/>
        </p:nvSpPr>
        <p:spPr>
          <a:xfrm>
            <a:off x="3653028" y="4837176"/>
            <a:ext cx="1019556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" tIns="9144" rIns="9144" bIns="9144">
            <a:normAutofit/>
          </a:bodyPr>
          <a:lstStyle/>
          <a:p>
            <a:pPr algn="ctr"/>
            <a:r>
              <a:rPr lang="en-US" sz="700">
                <a:solidFill>
                  <a:srgbClr val="111827"/>
                </a:solidFill>
                <a:latin typeface="Aptos"/>
                <a:ea typeface="Malgun Gothic"/>
              </a:rPr>
              <a:t>App Server 1</a:t>
            </a:r>
            <a:endParaRPr lang="en-US" sz="700"/>
          </a:p>
        </p:txBody>
      </p:sp>
      <p:pic>
        <p:nvPicPr>
          <p:cNvPr id="45" name="Icon App Server 2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962906" y="4370832"/>
            <a:ext cx="438912" cy="438912"/>
          </a:xfrm>
          <a:prstGeom prst="rect">
            <a:avLst/>
          </a:prstGeom>
        </p:spPr>
      </p:pic>
      <p:sp>
        <p:nvSpPr>
          <p:cNvPr id="46" name="Label App Server 2"/>
          <p:cNvSpPr txBox="1"/>
          <p:nvPr/>
        </p:nvSpPr>
        <p:spPr>
          <a:xfrm>
            <a:off x="4672584" y="4837176"/>
            <a:ext cx="1019556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" tIns="9144" rIns="9144" bIns="9144">
            <a:normAutofit/>
          </a:bodyPr>
          <a:lstStyle/>
          <a:p>
            <a:pPr algn="ctr"/>
            <a:r>
              <a:rPr lang="en-US" sz="700">
                <a:solidFill>
                  <a:srgbClr val="111827"/>
                </a:solidFill>
                <a:latin typeface="Aptos"/>
                <a:ea typeface="Malgun Gothic"/>
              </a:rPr>
              <a:t>App Server 2</a:t>
            </a:r>
            <a:endParaRPr lang="en-US" sz="700"/>
          </a:p>
        </p:txBody>
      </p:sp>
      <p:pic>
        <p:nvPicPr>
          <p:cNvPr id="47" name="Icon Web Server 1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023735" y="2359152"/>
            <a:ext cx="438912" cy="438912"/>
          </a:xfrm>
          <a:prstGeom prst="rect">
            <a:avLst/>
          </a:prstGeom>
        </p:spPr>
      </p:pic>
      <p:sp>
        <p:nvSpPr>
          <p:cNvPr id="48" name="Label Web Server 1"/>
          <p:cNvSpPr txBox="1"/>
          <p:nvPr/>
        </p:nvSpPr>
        <p:spPr>
          <a:xfrm>
            <a:off x="6478524" y="2825496"/>
            <a:ext cx="1529334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" tIns="9144" rIns="9144" bIns="9144">
            <a:normAutofit/>
          </a:bodyPr>
          <a:lstStyle/>
          <a:p>
            <a:pPr algn="ctr"/>
            <a:r>
              <a:rPr lang="en-US" sz="700">
                <a:solidFill>
                  <a:srgbClr val="111827"/>
                </a:solidFill>
                <a:latin typeface="Aptos"/>
                <a:ea typeface="Malgun Gothic"/>
              </a:rPr>
              <a:t>Web Server 1</a:t>
            </a:r>
            <a:endParaRPr lang="en-US" sz="700"/>
          </a:p>
        </p:txBody>
      </p:sp>
      <p:pic>
        <p:nvPicPr>
          <p:cNvPr id="49" name="Icon Web Server 2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553069" y="2359152"/>
            <a:ext cx="438912" cy="438912"/>
          </a:xfrm>
          <a:prstGeom prst="rect">
            <a:avLst/>
          </a:prstGeom>
        </p:spPr>
      </p:pic>
      <p:sp>
        <p:nvSpPr>
          <p:cNvPr id="50" name="Label Web Server 2"/>
          <p:cNvSpPr txBox="1"/>
          <p:nvPr/>
        </p:nvSpPr>
        <p:spPr>
          <a:xfrm>
            <a:off x="8007858" y="2825496"/>
            <a:ext cx="1529334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" tIns="9144" rIns="9144" bIns="9144">
            <a:normAutofit/>
          </a:bodyPr>
          <a:lstStyle/>
          <a:p>
            <a:pPr algn="ctr"/>
            <a:r>
              <a:rPr lang="en-US" sz="700">
                <a:solidFill>
                  <a:srgbClr val="111827"/>
                </a:solidFill>
                <a:latin typeface="Aptos"/>
                <a:ea typeface="Malgun Gothic"/>
              </a:rPr>
              <a:t>Web Server 2</a:t>
            </a:r>
            <a:endParaRPr lang="en-US" sz="700"/>
          </a:p>
        </p:txBody>
      </p:sp>
      <p:pic>
        <p:nvPicPr>
          <p:cNvPr id="51" name="Icon DB Primary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023735" y="4370832"/>
            <a:ext cx="438912" cy="438912"/>
          </a:xfrm>
          <a:prstGeom prst="rect">
            <a:avLst/>
          </a:prstGeom>
        </p:spPr>
      </p:pic>
      <p:sp>
        <p:nvSpPr>
          <p:cNvPr id="52" name="Label DB Primary"/>
          <p:cNvSpPr txBox="1"/>
          <p:nvPr/>
        </p:nvSpPr>
        <p:spPr>
          <a:xfrm>
            <a:off x="6478524" y="4837176"/>
            <a:ext cx="1529334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" tIns="9144" rIns="9144" bIns="9144">
            <a:normAutofit/>
          </a:bodyPr>
          <a:lstStyle/>
          <a:p>
            <a:pPr algn="ctr"/>
            <a:r>
              <a:rPr lang="en-US" sz="700">
                <a:solidFill>
                  <a:srgbClr val="111827"/>
                </a:solidFill>
                <a:latin typeface="Aptos"/>
                <a:ea typeface="Malgun Gothic"/>
              </a:rPr>
              <a:t>DB Primary</a:t>
            </a:r>
            <a:endParaRPr lang="en-US" sz="700"/>
          </a:p>
        </p:txBody>
      </p:sp>
      <p:pic>
        <p:nvPicPr>
          <p:cNvPr id="53" name="Icon DB Standby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553069" y="4370832"/>
            <a:ext cx="438912" cy="438912"/>
          </a:xfrm>
          <a:prstGeom prst="rect">
            <a:avLst/>
          </a:prstGeom>
        </p:spPr>
      </p:pic>
      <p:sp>
        <p:nvSpPr>
          <p:cNvPr id="54" name="Label DB Standby"/>
          <p:cNvSpPr txBox="1"/>
          <p:nvPr/>
        </p:nvSpPr>
        <p:spPr>
          <a:xfrm>
            <a:off x="8007858" y="4837176"/>
            <a:ext cx="1529334" cy="246888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" tIns="9144" rIns="9144" bIns="9144">
            <a:normAutofit/>
          </a:bodyPr>
          <a:lstStyle/>
          <a:p>
            <a:pPr algn="ctr"/>
            <a:r>
              <a:rPr lang="en-US" sz="700">
                <a:solidFill>
                  <a:srgbClr val="111827"/>
                </a:solidFill>
                <a:latin typeface="Aptos"/>
                <a:ea typeface="Malgun Gothic"/>
              </a:rPr>
              <a:t>DB Standby</a:t>
            </a:r>
            <a:endParaRPr lang="en-US" sz="700"/>
          </a:p>
        </p:txBody>
      </p:sp>
      <p:cxnSp>
        <p:nvCxnSpPr>
          <p:cNvPr id="55" name="DataGuard connection db-primary to db-standby"/>
          <p:cNvCxnSpPr/>
          <p:nvPr/>
        </p:nvCxnSpPr>
        <p:spPr>
          <a:xfrm>
            <a:off x="7462647" y="4590288"/>
            <a:ext cx="1090422" cy="914"/>
          </a:xfrm>
          <a:prstGeom prst="straightConnector1">
            <a:avLst/>
          </a:prstGeom>
          <a:ln w="12700">
            <a:solidFill>
              <a:srgbClr val="312D2A"/>
            </a:solidFill>
          </a:ln>
        </p:spPr>
      </p:cxnSp>
      <p:sp>
        <p:nvSpPr>
          <p:cNvPr id="56" name="DataGuard label db-primary to db-standby"/>
          <p:cNvSpPr txBox="1"/>
          <p:nvPr/>
        </p:nvSpPr>
        <p:spPr>
          <a:xfrm>
            <a:off x="7535113" y="4306824"/>
            <a:ext cx="94549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18288" rIns="18288" bIns="18288">
            <a:normAutofit/>
          </a:bodyPr>
          <a:lstStyle/>
          <a:p>
            <a:pPr algn="ctr"/>
            <a:r>
              <a:rPr lang="en-US" sz="740" b="1">
                <a:solidFill>
                  <a:srgbClr val="312D2A"/>
                </a:solidFill>
                <a:latin typeface="Aptos"/>
                <a:ea typeface="Malgun Gothic"/>
              </a:rPr>
              <a:t>DataGuard</a:t>
            </a:r>
            <a:endParaRPr lang="en-US" sz="740"/>
          </a:p>
        </p:txBody>
      </p:sp>
      <p:sp>
        <p:nvSpPr>
          <p:cNvPr id="57" name="Legend"/>
          <p:cNvSpPr txBox="1"/>
          <p:nvPr/>
        </p:nvSpPr>
        <p:spPr>
          <a:xfrm>
            <a:off x="320040" y="6336792"/>
            <a:ext cx="112014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45720" rIns="45720" bIns="45720">
            <a:normAutofit/>
          </a:bodyPr>
          <a:lstStyle/>
          <a:p>
            <a:pPr algn="l"/>
            <a:r>
              <a:rPr lang="en-US" sz="750">
                <a:solidFill>
                  <a:srgbClr val="6B7280"/>
                </a:solidFill>
                <a:latin typeface="Aptos"/>
                <a:ea typeface="Malgun Gothic"/>
              </a:rPr>
              <a:t>Only the DataGuard DB relationship is shown; other traffic and security details are listed on the notes slide.</a:t>
            </a:r>
            <a:endParaRPr lang="en-US" sz="7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Notes title"/>
          <p:cNvSpPr txBox="1"/>
          <p:nvPr/>
        </p:nvSpPr>
        <p:spPr>
          <a:xfrm>
            <a:off x="502920" y="320040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45720" rIns="45720" bIns="45720">
            <a:normAutofit/>
          </a:bodyPr>
          <a:lstStyle/>
          <a:p>
            <a:pPr algn="l"/>
            <a:r>
              <a:rPr lang="en-US" sz="2100" b="1">
                <a:solidFill>
                  <a:srgbClr val="111827"/>
                </a:solidFill>
                <a:latin typeface="Aptos"/>
                <a:ea typeface="Malgun Gothic"/>
              </a:rPr>
              <a:t>Assumptions, Security Notes, and Rendering Notes</a:t>
            </a:r>
            <a:endParaRPr lang="en-US" sz="2100"/>
          </a:p>
        </p:txBody>
      </p:sp>
      <p:sp>
        <p:nvSpPr>
          <p:cNvPr id="4" name="Assumptions box"/>
          <p:cNvSpPr/>
          <p:nvPr/>
        </p:nvSpPr>
        <p:spPr>
          <a:xfrm>
            <a:off x="594360" y="1005840"/>
            <a:ext cx="534924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5" name="Assumptions"/>
          <p:cNvSpPr txBox="1"/>
          <p:nvPr/>
        </p:nvSpPr>
        <p:spPr>
          <a:xfrm>
            <a:off x="777240" y="1170432"/>
            <a:ext cx="4983480" cy="260604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45720" rIns="45720" bIns="45720">
            <a:normAutofit/>
          </a:bodyPr>
          <a:lstStyle/>
          <a:p>
            <a:pPr algn="l"/>
            <a:r>
              <a:rPr lang="en-US" sz="1000">
                <a:solidFill>
                  <a:srgbClr val="374151"/>
                </a:solidFill>
                <a:latin typeface="Aptos"/>
                <a:ea typeface="Malgun Gothic"/>
              </a:rPr>
              <a:t>Assumptions</a:t>
            </a:r>
            <a:endParaRPr lang="en-US" sz="1000"/>
          </a:p>
          <a:p>
            <a:pPr algn="l"/>
            <a:r>
              <a:rPr lang="en-US" sz="1000">
                <a:solidFill>
                  <a:srgbClr val="374151"/>
                </a:solidFill>
                <a:latin typeface="Aptos"/>
                <a:ea typeface="Malgun Gothic"/>
              </a:rPr>
              <a:t>- 리전은 별도 지정이 없어 Seoul(ap-seoul-1)을 사용했습니다.</a:t>
            </a:r>
            <a:endParaRPr lang="en-US" sz="1000"/>
          </a:p>
          <a:p>
            <a:pPr algn="l"/>
            <a:r>
              <a:rPr lang="en-US" sz="1000">
                <a:solidFill>
                  <a:srgbClr val="374151"/>
                </a:solidFill>
                <a:latin typeface="Aptos"/>
                <a:ea typeface="Malgun Gothic"/>
              </a:rPr>
              <a:t>- VCN CIDR은 10.0.0.0/16, 서브넷은 계층별 /24 regional subnet으로 가정했습니다.</a:t>
            </a:r>
            <a:endParaRPr lang="en-US" sz="1000"/>
          </a:p>
          <a:p>
            <a:pPr algn="l"/>
            <a:r>
              <a:rPr lang="en-US" sz="1000">
                <a:solidFill>
                  <a:srgbClr val="374151"/>
                </a:solidFill>
                <a:latin typeface="Aptos"/>
                <a:ea typeface="Malgun Gothic"/>
              </a:rPr>
              <a:t>- Web 서버 2대와 App 서버 2대는 각각 Fault Domain 분산을 전제로 표현했습니다.</a:t>
            </a:r>
            <a:endParaRPr lang="en-US" sz="1000"/>
          </a:p>
          <a:p>
            <a:pPr algn="l"/>
            <a:r>
              <a:rPr lang="en-US" sz="1000">
                <a:solidFill>
                  <a:srgbClr val="374151"/>
                </a:solidFill>
                <a:latin typeface="Aptos"/>
                <a:ea typeface="Malgun Gothic"/>
              </a:rPr>
              <a:t>- Data Guard는 동일 리전 내 DB Primary/Standby 구성으로 표현했습니다.</a:t>
            </a:r>
            <a:endParaRPr lang="en-US" sz="1000"/>
          </a:p>
        </p:txBody>
      </p:sp>
      <p:sp>
        <p:nvSpPr>
          <p:cNvPr id="6" name="Security box"/>
          <p:cNvSpPr/>
          <p:nvPr/>
        </p:nvSpPr>
        <p:spPr>
          <a:xfrm>
            <a:off x="6217920" y="1005840"/>
            <a:ext cx="534924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7" name="Security notes"/>
          <p:cNvSpPr txBox="1"/>
          <p:nvPr/>
        </p:nvSpPr>
        <p:spPr>
          <a:xfrm>
            <a:off x="6400800" y="1170432"/>
            <a:ext cx="4983480" cy="260604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45720" rIns="45720" bIns="45720">
            <a:normAutofit/>
          </a:bodyPr>
          <a:lstStyle/>
          <a:p>
            <a:pPr algn="l"/>
            <a:r>
              <a:rPr lang="en-US" sz="1000">
                <a:solidFill>
                  <a:srgbClr val="374151"/>
                </a:solidFill>
                <a:latin typeface="Aptos"/>
                <a:ea typeface="Malgun Gothic"/>
              </a:rPr>
              <a:t>Security and best-practice notes</a:t>
            </a:r>
            <a:endParaRPr lang="en-US" sz="1000"/>
          </a:p>
          <a:p>
            <a:pPr algn="l"/>
            <a:r>
              <a:rPr lang="en-US" sz="1000">
                <a:solidFill>
                  <a:srgbClr val="374151"/>
                </a:solidFill>
                <a:latin typeface="Aptos"/>
                <a:ea typeface="Malgun Gothic"/>
              </a:rPr>
              <a:t>- WAF와 Public LoadBalancer는 Public Edge Subnet에 배치했습니다.</a:t>
            </a:r>
            <a:endParaRPr lang="en-US" sz="1000"/>
          </a:p>
          <a:p>
            <a:pPr algn="l"/>
            <a:r>
              <a:rPr lang="en-US" sz="1000">
                <a:solidFill>
                  <a:srgbClr val="374151"/>
                </a:solidFill>
                <a:latin typeface="Aptos"/>
                <a:ea typeface="Malgun Gothic"/>
              </a:rPr>
              <a:t>- Web/App/DB 계층은 private subnet에 배치하고, DB는 public access가 없도록 모델링했습니다.</a:t>
            </a:r>
            <a:endParaRPr lang="en-US" sz="1000"/>
          </a:p>
          <a:p>
            <a:pPr algn="l"/>
            <a:r>
              <a:rPr lang="en-US" sz="1000">
                <a:solidFill>
                  <a:srgbClr val="374151"/>
                </a:solidFill>
                <a:latin typeface="Aptos"/>
                <a:ea typeface="Malgun Gothic"/>
              </a:rPr>
              <a:t>- Public LoadBalancer는 Web 서버 2대를 backend set으로 사용합니다.</a:t>
            </a:r>
            <a:endParaRPr lang="en-US" sz="1000"/>
          </a:p>
          <a:p>
            <a:pPr algn="l"/>
            <a:r>
              <a:rPr lang="en-US" sz="1000">
                <a:solidFill>
                  <a:srgbClr val="374151"/>
                </a:solidFill>
                <a:latin typeface="Aptos"/>
                <a:ea typeface="Malgun Gothic"/>
              </a:rPr>
              <a:t>- Private App LoadBalancer는 App 서버 2대를 backend set으로 사용합니다.</a:t>
            </a:r>
            <a:endParaRPr lang="en-US" sz="1000"/>
          </a:p>
          <a:p>
            <a:pPr algn="l"/>
            <a:r>
              <a:rPr lang="en-US" sz="1000">
                <a:solidFill>
                  <a:srgbClr val="374151"/>
                </a:solidFill>
                <a:latin typeface="Aptos"/>
                <a:ea typeface="Malgun Gothic"/>
              </a:rPr>
              <a:t>- Public LoadBalancer에서 Web 계층, Web 계층에서 Private App LoadBalancer, App 계층에서 DB 계층으로만 필요한 포트를 허용하는 NSG 정책을 전제로 합니다.</a:t>
            </a:r>
            <a:endParaRPr lang="en-US" sz="1000"/>
          </a:p>
          <a:p>
            <a:pPr algn="l"/>
            <a:r>
              <a:rPr lang="en-US" sz="1000">
                <a:solidFill>
                  <a:srgbClr val="374151"/>
                </a:solidFill>
                <a:latin typeface="Aptos"/>
                <a:ea typeface="Malgun Gothic"/>
              </a:rPr>
              <a:t>- DB 백업 및 Oracle public service 접근은 Service Gateway를 통한 Object Storage private access로 표현했습니다.</a:t>
            </a:r>
            <a:endParaRPr lang="en-US" sz="1000"/>
          </a:p>
          <a:p>
            <a:pPr algn="l"/>
            <a:r>
              <a:rPr lang="en-US" sz="1000">
                <a:solidFill>
                  <a:srgbClr val="374151"/>
                </a:solidFill>
                <a:latin typeface="Aptos"/>
                <a:ea typeface="Malgun Gothic"/>
              </a:rPr>
              <a:t>- Private subnet의 패치/외부 업데이트 경로는 NAT Gateway를 사용하도록 표현했습니다.</a:t>
            </a:r>
            <a:endParaRPr lang="en-US" sz="1000"/>
          </a:p>
        </p:txBody>
      </p:sp>
      <p:sp>
        <p:nvSpPr>
          <p:cNvPr id="8" name="Rendering box"/>
          <p:cNvSpPr/>
          <p:nvPr/>
        </p:nvSpPr>
        <p:spPr>
          <a:xfrm>
            <a:off x="594360" y="4315968"/>
            <a:ext cx="10972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9" name="Rendering notes"/>
          <p:cNvSpPr txBox="1"/>
          <p:nvPr/>
        </p:nvSpPr>
        <p:spPr>
          <a:xfrm>
            <a:off x="777240" y="4480560"/>
            <a:ext cx="10561320" cy="1042416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45720" rIns="45720" bIns="45720">
            <a:normAutofit/>
          </a:bodyPr>
          <a:lstStyle/>
          <a:p>
            <a:pPr algn="l"/>
            <a:r>
              <a:rPr lang="en-US" sz="919">
                <a:solidFill>
                  <a:srgbClr val="374151"/>
                </a:solidFill>
                <a:latin typeface="Aptos"/>
                <a:ea typeface="Malgun Gothic"/>
              </a:rPr>
              <a:t>Rendering notes</a:t>
            </a:r>
            <a:endParaRPr lang="en-US" sz="919"/>
          </a:p>
          <a:p>
            <a:pPr algn="l"/>
            <a:r>
              <a:rPr lang="en-US" sz="919">
                <a:solidFill>
                  <a:srgbClr val="374151"/>
                </a:solidFill>
                <a:latin typeface="Aptos"/>
                <a:ea typeface="Malgun Gothic"/>
              </a:rPr>
              <a:t>- IGW: Internet Gateway</a:t>
            </a:r>
            <a:endParaRPr lang="en-US" sz="919"/>
          </a:p>
          <a:p>
            <a:pPr algn="l"/>
            <a:r>
              <a:rPr lang="en-US" sz="919">
                <a:solidFill>
                  <a:srgbClr val="374151"/>
                </a:solidFill>
                <a:latin typeface="Aptos"/>
                <a:ea typeface="Malgun Gothic"/>
              </a:rPr>
              <a:t>- NAT: NAT Gateway</a:t>
            </a:r>
            <a:endParaRPr lang="en-US" sz="919"/>
          </a:p>
          <a:p>
            <a:pPr algn="l"/>
            <a:r>
              <a:rPr lang="en-US" sz="919">
                <a:solidFill>
                  <a:srgbClr val="374151"/>
                </a:solidFill>
                <a:latin typeface="Aptos"/>
                <a:ea typeface="Malgun Gothic"/>
              </a:rPr>
              <a:t>- SGW: Service Gateway</a:t>
            </a:r>
            <a:endParaRPr lang="en-US" sz="919"/>
          </a:p>
          <a:p>
            <a:pPr algn="l"/>
            <a:r>
              <a:rPr lang="en-US" sz="919">
                <a:solidFill>
                  <a:srgbClr val="374151"/>
                </a:solidFill>
                <a:latin typeface="Aptos"/>
                <a:ea typeface="Malgun Gothic"/>
              </a:rPr>
              <a:t>- Containers, labels, arrows, and notes are editable PowerPoint objects.</a:t>
            </a:r>
            <a:endParaRPr lang="en-US" sz="919"/>
          </a:p>
          <a:p>
            <a:pPr algn="l"/>
            <a:r>
              <a:rPr lang="en-US" sz="919">
                <a:solidFill>
                  <a:srgbClr val="374151"/>
                </a:solidFill>
                <a:latin typeface="Aptos"/>
                <a:ea typeface="Malgun Gothic"/>
              </a:rPr>
              <a:t>- OCI service icons are embedded image assets in this first renderer slice.</a:t>
            </a:r>
            <a:endParaRPr lang="en-US" sz="919"/>
          </a:p>
          <a:p>
            <a:pPr algn="l"/>
            <a:r>
              <a:rPr lang="en-US" sz="919">
                <a:solidFill>
                  <a:srgbClr val="374151"/>
                </a:solidFill>
                <a:latin typeface="Aptos"/>
                <a:ea typeface="Malgun Gothic"/>
              </a:rPr>
              <a:t>- Only the DataGuard DB connection line and label are shown on the architecture slide for readability.</a:t>
            </a:r>
            <a:endParaRPr lang="en-US" sz="919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CI Arch Theme">
  <a:themeElements>
    <a:clrScheme name="OCI Arch">
      <a:dk1>
        <a:sysClr val="windowText" lastClr="000000"/>
      </a:dk1>
      <a:lt1>
        <a:sysClr val="window" lastClr="FFFFFF"/>
      </a:lt1>
      <a:dk2>
        <a:srgbClr val="1F2937"/>
      </a:dk2>
      <a:lt2>
        <a:srgbClr val="F8FAFC"/>
      </a:lt2>
      <a:accent1>
        <a:srgbClr val="C74634"/>
      </a:accent1>
      <a:accent2>
        <a:srgbClr val="1F4E79"/>
      </a:accent2>
      <a:accent3>
        <a:srgbClr val="2E7D32"/>
      </a:accent3>
      <a:accent4>
        <a:srgbClr val="AD6800"/>
      </a:accent4>
      <a:accent5>
        <a:srgbClr val="0E7490"/>
      </a:accent5>
      <a:accent6>
        <a:srgbClr val="7C3AED"/>
      </a:accent6>
      <a:hlink>
        <a:srgbClr val="2563EB"/>
      </a:hlink>
      <a:folHlink>
        <a:srgbClr val="9333EA"/>
      </a:folHlink>
    </a:clrScheme>
    <a:fontScheme name="OCI Arch">
      <a:majorFont>
        <a:latin typeface="Aptos Display"/>
        <a:ea typeface="Malgun Gothic"/>
        <a:cs typeface="Arial"/>
      </a:majorFont>
      <a:minorFont>
        <a:latin typeface="Aptos"/>
        <a:ea typeface="Malgun Gothic"/>
        <a:cs typeface="Arial"/>
      </a:minorFont>
    </a:fontScheme>
    <a:fmtScheme name="OCI Arc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</a:schemeClr>
            </a:gs>
            <a:gs pos="100000">
              <a:schemeClr val="phClr">
                <a:lumMod val="105000"/>
                <a:sat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108000"/>
                <a:satMod val="105000"/>
              </a:schemeClr>
            </a:gs>
            <a:gs pos="100000">
              <a:schemeClr val="phClr">
                <a:lumMod val="105000"/>
                <a:satMod val="103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oci-arch-pptx</Application>
  <PresentationFormat>On-screen Show (16:9)</PresentationFormat>
  <Slides>3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OCI HA Architecture with WAF and Data Guard</dc:title>
  <dc:creator>oci-arch-pptx</dc:creator>
  <cp:lastModifiedBy>oci-arch-pptx</cp:lastModifiedBy>
  <dcterms:created xsi:type="dcterms:W3CDTF">1980-01-01T00:00:00Z</dcterms:created>
  <dcterms:modified xsi:type="dcterms:W3CDTF">1980-01-01T00:00:00Z</dcterms:modified>
</cp:coreProperties>
</file>