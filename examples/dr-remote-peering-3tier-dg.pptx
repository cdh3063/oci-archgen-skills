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1"/>
    <p:sldId id="257" r:id="rId2"/>
    <p:sldId id="258" r:id="rId3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8.png"/><Relationship Id="rId16" Type="http://schemas.openxmlformats.org/officeDocument/2006/relationships/image" Target="../media/image7.png"/><Relationship Id="rId17" Type="http://schemas.openxmlformats.org/officeDocument/2006/relationships/image" Target="../media/image8.png"/><Relationship Id="rId18" Type="http://schemas.openxmlformats.org/officeDocument/2006/relationships/image" Target="../media/image8.png"/><Relationship Id="rId19" Type="http://schemas.openxmlformats.org/officeDocument/2006/relationships/image" Target="../media/image9.png"/><Relationship Id="rId20" Type="http://schemas.openxmlformats.org/officeDocument/2006/relationships/image" Target="../media/image1.png"/><Relationship Id="rId21" Type="http://schemas.openxmlformats.org/officeDocument/2006/relationships/image" Target="../media/image2.png"/><Relationship Id="rId22" Type="http://schemas.openxmlformats.org/officeDocument/2006/relationships/image" Target="../media/image3.png"/><Relationship Id="rId23" Type="http://schemas.openxmlformats.org/officeDocument/2006/relationships/image" Target="../media/image2.png"/><Relationship Id="rId24" Type="http://schemas.openxmlformats.org/officeDocument/2006/relationships/image" Target="../media/image3.png"/><Relationship Id="rId25" Type="http://schemas.openxmlformats.org/officeDocument/2006/relationships/image" Target="../media/image2.png"/><Relationship Id="rId26" Type="http://schemas.openxmlformats.org/officeDocument/2006/relationships/image" Target="../media/image3.png"/><Relationship Id="rId27" Type="http://schemas.openxmlformats.org/officeDocument/2006/relationships/image" Target="../media/image2.png"/><Relationship Id="rId28" Type="http://schemas.openxmlformats.org/officeDocument/2006/relationships/image" Target="../media/image3.png"/><Relationship Id="rId29" Type="http://schemas.openxmlformats.org/officeDocument/2006/relationships/image" Target="../media/image4.png"/><Relationship Id="rId30" Type="http://schemas.openxmlformats.org/officeDocument/2006/relationships/image" Target="../media/image5.png"/><Relationship Id="rId31" Type="http://schemas.openxmlformats.org/officeDocument/2006/relationships/image" Target="../media/image6.png"/><Relationship Id="rId32" Type="http://schemas.openxmlformats.org/officeDocument/2006/relationships/image" Target="../media/image7.png"/><Relationship Id="rId33" Type="http://schemas.openxmlformats.org/officeDocument/2006/relationships/image" Target="../media/image8.png"/><Relationship Id="rId34" Type="http://schemas.openxmlformats.org/officeDocument/2006/relationships/image" Target="../media/image8.png"/><Relationship Id="rId35" Type="http://schemas.openxmlformats.org/officeDocument/2006/relationships/image" Target="../media/image7.png"/><Relationship Id="rId36" Type="http://schemas.openxmlformats.org/officeDocument/2006/relationships/image" Target="../media/image8.png"/><Relationship Id="rId37" Type="http://schemas.openxmlformats.org/officeDocument/2006/relationships/image" Target="../media/image8.png"/><Relationship Id="rId38" Type="http://schemas.openxmlformats.org/officeDocument/2006/relationships/image" Target="../media/image9.png"/><Relationship Id="rId39" Type="http://schemas.openxmlformats.org/officeDocument/2006/relationships/image" Target="../media/image10.png"/><Relationship Id="rId40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566928" y="960120"/>
            <a:ext cx="73152" cy="2331720"/>
          </a:xfrm>
          <a:prstGeom prst="rect">
            <a:avLst/>
          </a:prstGeom>
          <a:solidFill>
            <a:srgbClr val="C74634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22960" y="91440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3100" b="1">
                <a:solidFill>
                  <a:srgbClr val="111827"/>
                </a:solidFill>
                <a:latin typeface="Aptos"/>
                <a:ea typeface="Malgun Gothic"/>
              </a:rPr>
              <a:t>OCI DR Architecture with Remote Peering and DataGuard</a:t>
            </a:r>
            <a:endParaRPr lang="en-US" sz="3100"/>
          </a:p>
        </p:txBody>
      </p:sp>
      <p:sp>
        <p:nvSpPr>
          <p:cNvPr id="5" name="Scope"/>
          <p:cNvSpPr txBox="1"/>
          <p:nvPr/>
        </p:nvSpPr>
        <p:spPr>
          <a:xfrm>
            <a:off x="841248" y="18288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  <a:latin typeface="Aptos"/>
                <a:ea typeface="Malgun Gothic"/>
              </a:rPr>
              <a:t>ap-seoul-1 / ap-chuncheon-1 - Primary Application VCN / DR Application VCN</a:t>
            </a:r>
            <a:endParaRPr lang="en-US" sz="1500"/>
          </a:p>
        </p:txBody>
      </p:sp>
      <p:sp>
        <p:nvSpPr>
          <p:cNvPr id="6" name="Deck shape"/>
          <p:cNvSpPr txBox="1"/>
          <p:nvPr/>
        </p:nvSpPr>
        <p:spPr>
          <a:xfrm>
            <a:off x="841248" y="27432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300">
                <a:solidFill>
                  <a:srgbClr val="4B5563"/>
                </a:solidFill>
                <a:latin typeface="Aptos"/>
                <a:ea typeface="Malgun Gothic"/>
              </a:rPr>
              <a:t>Editable OCI architecture deck: title, diagram, assumptions and notes.</a:t>
            </a:r>
            <a:endParaRPr lang="en-US" sz="1300"/>
          </a:p>
        </p:txBody>
      </p:sp>
      <p:sp>
        <p:nvSpPr>
          <p:cNvPr id="7" name="Model summary"/>
          <p:cNvSpPr txBox="1"/>
          <p:nvPr/>
        </p:nvSpPr>
        <p:spPr>
          <a:xfrm>
            <a:off x="841248" y="4663440"/>
            <a:ext cx="987552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100">
                <a:solidFill>
                  <a:srgbClr val="374151"/>
                </a:solidFill>
                <a:latin typeface="Aptos"/>
                <a:ea typeface="Malgun Gothic"/>
              </a:rPr>
              <a:t>Subnets: 8</a:t>
            </a:r>
            <a:endParaRPr lang="en-US" sz="1100"/>
          </a:p>
          <a:p>
            <a:pPr algn="l"/>
            <a:r>
              <a:rPr lang="en-US" sz="1100">
                <a:solidFill>
                  <a:srgbClr val="374151"/>
                </a:solidFill>
                <a:latin typeface="Aptos"/>
                <a:ea typeface="Malgun Gothic"/>
              </a:rPr>
              <a:t>Resources: 14</a:t>
            </a:r>
            <a:endParaRPr lang="en-US" sz="1100"/>
          </a:p>
          <a:p>
            <a:pPr algn="l"/>
            <a:r>
              <a:rPr lang="en-US" sz="1100">
                <a:solidFill>
                  <a:srgbClr val="374151"/>
                </a:solidFill>
                <a:latin typeface="Aptos"/>
                <a:ea typeface="Malgun Gothic"/>
              </a:rPr>
              <a:t>VCN-level gateways: 6</a:t>
            </a:r>
            <a:endParaRPr lang="en-US" sz="1100"/>
          </a:p>
          <a:p>
            <a:pPr algn="l"/>
            <a:r>
              <a:rPr lang="en-US" sz="1100">
                <a:solidFill>
                  <a:srgbClr val="374151"/>
                </a:solidFill>
                <a:latin typeface="Aptos"/>
                <a:ea typeface="Malgun Gothic"/>
              </a:rPr>
              <a:t>External networks: 0</a:t>
            </a:r>
            <a:endParaRPr lang="en-US" sz="1100"/>
          </a:p>
          <a:p>
            <a:pPr algn="l"/>
            <a:r>
              <a:rPr lang="en-US" sz="1100">
                <a:solidFill>
                  <a:srgbClr val="374151"/>
                </a:solidFill>
                <a:latin typeface="Aptos"/>
                <a:ea typeface="Malgun Gothic"/>
              </a:rPr>
              <a:t>Network connections: 2</a:t>
            </a:r>
            <a:endParaRPr lang="en-US" sz="1100"/>
          </a:p>
        </p:txBody>
      </p:sp>
      <p:sp>
        <p:nvSpPr>
          <p:cNvPr id="8" name="Footer"/>
          <p:cNvSpPr txBox="1"/>
          <p:nvPr/>
        </p:nvSpPr>
        <p:spPr>
          <a:xfrm>
            <a:off x="841248" y="626364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00">
                <a:solidFill>
                  <a:srgbClr val="6B7280"/>
                </a:solidFill>
                <a:latin typeface="Aptos"/>
                <a:ea typeface="Malgun Gothic"/>
              </a:rPr>
              <a:t>Generated by skills/oci-arch-pptx/scripts/generate_pptx.py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Diagram title"/>
          <p:cNvSpPr txBox="1"/>
          <p:nvPr/>
        </p:nvSpPr>
        <p:spPr>
          <a:xfrm>
            <a:off x="320040" y="146304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ptos"/>
                <a:ea typeface="Malgun Gothic"/>
              </a:rPr>
              <a:t>OCI DR Architecture with Remote Peering and DataGuard</a:t>
            </a:r>
            <a:endParaRPr lang="en-US" sz="1500"/>
          </a:p>
        </p:txBody>
      </p:sp>
      <p:sp>
        <p:nvSpPr>
          <p:cNvPr id="4" name="Region boundary"/>
          <p:cNvSpPr/>
          <p:nvPr/>
        </p:nvSpPr>
        <p:spPr>
          <a:xfrm>
            <a:off x="685800" y="676656"/>
            <a:ext cx="5257800" cy="5486400"/>
          </a:xfrm>
          <a:prstGeom prst="roundRect">
            <a:avLst>
              <a:gd name="adj" fmla="val 2000"/>
            </a:avLst>
          </a:prstGeom>
          <a:solidFill>
            <a:srgbClr val="F5F4F2"/>
          </a:solidFill>
          <a:ln w="12700">
            <a:solidFill>
              <a:srgbClr val="9E9892"/>
            </a:solidFill>
          </a:ln>
        </p:spPr>
      </p:sp>
      <p:sp>
        <p:nvSpPr>
          <p:cNvPr id="5" name="Region boundary label"/>
          <p:cNvSpPr txBox="1"/>
          <p:nvPr/>
        </p:nvSpPr>
        <p:spPr>
          <a:xfrm>
            <a:off x="850392" y="749808"/>
            <a:ext cx="4928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ctr"/>
            <a:r>
              <a:rPr lang="en-US" sz="1000" b="1">
                <a:solidFill>
                  <a:srgbClr val="312D2A"/>
                </a:solidFill>
                <a:latin typeface="Aptos"/>
                <a:ea typeface="Malgun Gothic"/>
              </a:rPr>
              <a:t>OCI Region: ap-seoul-1</a:t>
            </a:r>
            <a:endParaRPr lang="en-US" sz="1000"/>
          </a:p>
        </p:txBody>
      </p:sp>
      <p:sp>
        <p:nvSpPr>
          <p:cNvPr id="6" name="Region boundary"/>
          <p:cNvSpPr/>
          <p:nvPr/>
        </p:nvSpPr>
        <p:spPr>
          <a:xfrm>
            <a:off x="6245352" y="676656"/>
            <a:ext cx="5440680" cy="5486400"/>
          </a:xfrm>
          <a:prstGeom prst="roundRect">
            <a:avLst>
              <a:gd name="adj" fmla="val 2000"/>
            </a:avLst>
          </a:prstGeom>
          <a:solidFill>
            <a:srgbClr val="F5F4F2"/>
          </a:solidFill>
          <a:ln w="12700">
            <a:solidFill>
              <a:srgbClr val="9E9892"/>
            </a:solidFill>
          </a:ln>
        </p:spPr>
      </p:sp>
      <p:sp>
        <p:nvSpPr>
          <p:cNvPr id="7" name="Region boundary label"/>
          <p:cNvSpPr txBox="1"/>
          <p:nvPr/>
        </p:nvSpPr>
        <p:spPr>
          <a:xfrm>
            <a:off x="6409944" y="749808"/>
            <a:ext cx="51114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ctr"/>
            <a:r>
              <a:rPr lang="en-US" sz="1000" b="1">
                <a:solidFill>
                  <a:srgbClr val="312D2A"/>
                </a:solidFill>
                <a:latin typeface="Aptos"/>
                <a:ea typeface="Malgun Gothic"/>
              </a:rPr>
              <a:t>OCI Region: ap-chuncheon-1</a:t>
            </a:r>
            <a:endParaRPr lang="en-US" sz="1000"/>
          </a:p>
        </p:txBody>
      </p:sp>
      <p:sp>
        <p:nvSpPr>
          <p:cNvPr id="8" name="VCN boundary"/>
          <p:cNvSpPr/>
          <p:nvPr/>
        </p:nvSpPr>
        <p:spPr>
          <a:xfrm>
            <a:off x="1463040" y="1115568"/>
            <a:ext cx="3730752" cy="4617720"/>
          </a:xfrm>
          <a:prstGeom prst="rect">
            <a:avLst/>
          </a:prstGeom>
          <a:noFill/>
          <a:ln w="25400">
            <a:solidFill>
              <a:srgbClr val="AE562C"/>
            </a:solidFill>
            <a:prstDash val="dash"/>
          </a:ln>
        </p:spPr>
      </p:sp>
      <p:sp>
        <p:nvSpPr>
          <p:cNvPr id="9" name="VCN boundary label"/>
          <p:cNvSpPr txBox="1"/>
          <p:nvPr/>
        </p:nvSpPr>
        <p:spPr>
          <a:xfrm>
            <a:off x="1591056" y="11887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919" b="1">
                <a:solidFill>
                  <a:srgbClr val="AE562C"/>
                </a:solidFill>
                <a:latin typeface="Aptos"/>
                <a:ea typeface="Malgun Gothic"/>
              </a:rPr>
              <a:t>Primary Application VCN 10.10.0.0/16</a:t>
            </a:r>
            <a:endParaRPr lang="en-US" sz="919"/>
          </a:p>
        </p:txBody>
      </p:sp>
      <p:pic>
        <p:nvPicPr>
          <p:cNvPr id="10" name="VCN bad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978408"/>
            <a:ext cx="274320" cy="274320"/>
          </a:xfrm>
          <a:prstGeom prst="rect">
            <a:avLst/>
          </a:prstGeom>
        </p:spPr>
      </p:pic>
      <p:sp>
        <p:nvSpPr>
          <p:cNvPr id="11" name="Subnet 1"/>
          <p:cNvSpPr/>
          <p:nvPr/>
        </p:nvSpPr>
        <p:spPr>
          <a:xfrm>
            <a:off x="1810512" y="1664208"/>
            <a:ext cx="3035808" cy="82296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12" name="Subnet 1 label"/>
          <p:cNvSpPr txBox="1"/>
          <p:nvPr/>
        </p:nvSpPr>
        <p:spPr>
          <a:xfrm>
            <a:off x="1920240" y="1737360"/>
            <a:ext cx="281635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50" b="1">
                <a:solidFill>
                  <a:srgbClr val="AE562C"/>
                </a:solidFill>
                <a:latin typeface="Aptos"/>
                <a:ea typeface="Malgun Gothic"/>
              </a:rPr>
              <a:t>Primary Public Subnet - Public - Edge | 10.10.1.0/24</a:t>
            </a:r>
            <a:endParaRPr lang="en-US" sz="850"/>
          </a:p>
        </p:txBody>
      </p:sp>
      <p:pic>
        <p:nvPicPr>
          <p:cNvPr id="13" name="Subnet 1 route table bad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719072"/>
            <a:ext cx="210312" cy="210312"/>
          </a:xfrm>
          <a:prstGeom prst="rect">
            <a:avLst/>
          </a:prstGeom>
        </p:spPr>
      </p:pic>
      <p:pic>
        <p:nvPicPr>
          <p:cNvPr id="14" name="Subnet 1 security list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1719072"/>
            <a:ext cx="210312" cy="210312"/>
          </a:xfrm>
          <a:prstGeom prst="rect">
            <a:avLst/>
          </a:prstGeom>
        </p:spPr>
      </p:pic>
      <p:sp>
        <p:nvSpPr>
          <p:cNvPr id="15" name="Subnet 2"/>
          <p:cNvSpPr/>
          <p:nvPr/>
        </p:nvSpPr>
        <p:spPr>
          <a:xfrm>
            <a:off x="1810512" y="2670048"/>
            <a:ext cx="3035808" cy="82296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16" name="Subnet 2 label"/>
          <p:cNvSpPr txBox="1"/>
          <p:nvPr/>
        </p:nvSpPr>
        <p:spPr>
          <a:xfrm>
            <a:off x="1920240" y="2743200"/>
            <a:ext cx="281635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50" b="1">
                <a:solidFill>
                  <a:srgbClr val="AE562C"/>
                </a:solidFill>
                <a:latin typeface="Aptos"/>
                <a:ea typeface="Malgun Gothic"/>
              </a:rPr>
              <a:t>Primary Web Subnet - Private - Web | 10.10.2.0/24</a:t>
            </a:r>
            <a:endParaRPr lang="en-US" sz="850"/>
          </a:p>
        </p:txBody>
      </p:sp>
      <p:pic>
        <p:nvPicPr>
          <p:cNvPr id="17" name="Subnet 2 route table bad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2724912"/>
            <a:ext cx="210312" cy="210312"/>
          </a:xfrm>
          <a:prstGeom prst="rect">
            <a:avLst/>
          </a:prstGeom>
        </p:spPr>
      </p:pic>
      <p:pic>
        <p:nvPicPr>
          <p:cNvPr id="18" name="Subnet 2 security list bad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2724912"/>
            <a:ext cx="210312" cy="210312"/>
          </a:xfrm>
          <a:prstGeom prst="rect">
            <a:avLst/>
          </a:prstGeom>
        </p:spPr>
      </p:pic>
      <p:sp>
        <p:nvSpPr>
          <p:cNvPr id="19" name="Subnet 3"/>
          <p:cNvSpPr/>
          <p:nvPr/>
        </p:nvSpPr>
        <p:spPr>
          <a:xfrm>
            <a:off x="1810512" y="3675888"/>
            <a:ext cx="3035808" cy="82296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20" name="Subnet 3 label"/>
          <p:cNvSpPr txBox="1"/>
          <p:nvPr/>
        </p:nvSpPr>
        <p:spPr>
          <a:xfrm>
            <a:off x="1920240" y="3749040"/>
            <a:ext cx="281635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50" b="1">
                <a:solidFill>
                  <a:srgbClr val="AE562C"/>
                </a:solidFill>
                <a:latin typeface="Aptos"/>
                <a:ea typeface="Malgun Gothic"/>
              </a:rPr>
              <a:t>Primary App Subnet - Private - App | 10.10.3.0/24</a:t>
            </a:r>
            <a:endParaRPr lang="en-US" sz="850"/>
          </a:p>
        </p:txBody>
      </p:sp>
      <p:pic>
        <p:nvPicPr>
          <p:cNvPr id="21" name="Subnet 3 route table bad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256" y="3730752"/>
            <a:ext cx="210312" cy="210312"/>
          </a:xfrm>
          <a:prstGeom prst="rect">
            <a:avLst/>
          </a:prstGeom>
        </p:spPr>
      </p:pic>
      <p:pic>
        <p:nvPicPr>
          <p:cNvPr id="22" name="Subnet 3 security list bad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3730752"/>
            <a:ext cx="210312" cy="210312"/>
          </a:xfrm>
          <a:prstGeom prst="rect">
            <a:avLst/>
          </a:prstGeom>
        </p:spPr>
      </p:pic>
      <p:sp>
        <p:nvSpPr>
          <p:cNvPr id="23" name="Subnet 4"/>
          <p:cNvSpPr/>
          <p:nvPr/>
        </p:nvSpPr>
        <p:spPr>
          <a:xfrm>
            <a:off x="1810512" y="4681728"/>
            <a:ext cx="3035808" cy="82296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24" name="Subnet 4 label"/>
          <p:cNvSpPr txBox="1"/>
          <p:nvPr/>
        </p:nvSpPr>
        <p:spPr>
          <a:xfrm>
            <a:off x="1920240" y="4754880"/>
            <a:ext cx="281635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50" b="1">
                <a:solidFill>
                  <a:srgbClr val="AE562C"/>
                </a:solidFill>
                <a:latin typeface="Aptos"/>
                <a:ea typeface="Malgun Gothic"/>
              </a:rPr>
              <a:t>Primary DB Subnet - Private - Data | 10.10.4.0/24</a:t>
            </a:r>
            <a:endParaRPr lang="en-US" sz="850"/>
          </a:p>
        </p:txBody>
      </p:sp>
      <p:pic>
        <p:nvPicPr>
          <p:cNvPr id="25" name="Subnet 4 route table bad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4256" y="4736592"/>
            <a:ext cx="210312" cy="210312"/>
          </a:xfrm>
          <a:prstGeom prst="rect">
            <a:avLst/>
          </a:prstGeom>
        </p:spPr>
      </p:pic>
      <p:pic>
        <p:nvPicPr>
          <p:cNvPr id="26" name="Subnet 4 security list bad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9432" y="4736592"/>
            <a:ext cx="210312" cy="210312"/>
          </a:xfrm>
          <a:prstGeom prst="rect">
            <a:avLst/>
          </a:prstGeom>
        </p:spPr>
      </p:pic>
      <p:pic>
        <p:nvPicPr>
          <p:cNvPr id="27" name="Icon IGW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1883664"/>
            <a:ext cx="438912" cy="438912"/>
          </a:xfrm>
          <a:prstGeom prst="rect">
            <a:avLst/>
          </a:prstGeom>
        </p:spPr>
      </p:pic>
      <p:sp>
        <p:nvSpPr>
          <p:cNvPr id="28" name="Label IGW"/>
          <p:cNvSpPr txBox="1"/>
          <p:nvPr/>
        </p:nvSpPr>
        <p:spPr>
          <a:xfrm>
            <a:off x="489204" y="232257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IGW</a:t>
            </a:r>
            <a:endParaRPr lang="en-US" sz="700"/>
          </a:p>
        </p:txBody>
      </p:sp>
      <p:pic>
        <p:nvPicPr>
          <p:cNvPr id="29" name="Icon NA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808" y="2889504"/>
            <a:ext cx="438912" cy="438912"/>
          </a:xfrm>
          <a:prstGeom prst="rect">
            <a:avLst/>
          </a:prstGeom>
        </p:spPr>
      </p:pic>
      <p:sp>
        <p:nvSpPr>
          <p:cNvPr id="30" name="Label NAT"/>
          <p:cNvSpPr txBox="1"/>
          <p:nvPr/>
        </p:nvSpPr>
        <p:spPr>
          <a:xfrm>
            <a:off x="489204" y="332841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NAT</a:t>
            </a:r>
            <a:endParaRPr lang="en-US" sz="700"/>
          </a:p>
        </p:txBody>
      </p:sp>
      <p:pic>
        <p:nvPicPr>
          <p:cNvPr id="31" name="Icon R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13248" y="3867912"/>
            <a:ext cx="438912" cy="438912"/>
          </a:xfrm>
          <a:prstGeom prst="rect">
            <a:avLst/>
          </a:prstGeom>
        </p:spPr>
      </p:pic>
      <p:sp>
        <p:nvSpPr>
          <p:cNvPr id="32" name="Label RPG"/>
          <p:cNvSpPr txBox="1"/>
          <p:nvPr/>
        </p:nvSpPr>
        <p:spPr>
          <a:xfrm>
            <a:off x="5152644" y="4306824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RPG</a:t>
            </a:r>
            <a:endParaRPr lang="en-US" sz="700"/>
          </a:p>
        </p:txBody>
      </p:sp>
      <p:pic>
        <p:nvPicPr>
          <p:cNvPr id="33" name="Icon Primary Public LB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8960" y="1856232"/>
            <a:ext cx="438912" cy="438912"/>
          </a:xfrm>
          <a:prstGeom prst="rect">
            <a:avLst/>
          </a:prstGeom>
        </p:spPr>
      </p:pic>
      <p:sp>
        <p:nvSpPr>
          <p:cNvPr id="34" name="Label Primary Public LB"/>
          <p:cNvSpPr txBox="1"/>
          <p:nvPr/>
        </p:nvSpPr>
        <p:spPr>
          <a:xfrm>
            <a:off x="2103120" y="2295144"/>
            <a:ext cx="245059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Primary Public LB</a:t>
            </a:r>
            <a:endParaRPr lang="en-US" sz="700"/>
          </a:p>
        </p:txBody>
      </p:sp>
      <p:pic>
        <p:nvPicPr>
          <p:cNvPr id="35" name="Icon Primary Web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96312" y="2862072"/>
            <a:ext cx="438912" cy="438912"/>
          </a:xfrm>
          <a:prstGeom prst="rect">
            <a:avLst/>
          </a:prstGeom>
        </p:spPr>
      </p:pic>
      <p:sp>
        <p:nvSpPr>
          <p:cNvPr id="36" name="Label Primary Web 1"/>
          <p:cNvSpPr txBox="1"/>
          <p:nvPr/>
        </p:nvSpPr>
        <p:spPr>
          <a:xfrm>
            <a:off x="2103120" y="3300984"/>
            <a:ext cx="122529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Primary Web 1</a:t>
            </a:r>
            <a:endParaRPr lang="en-US" sz="700"/>
          </a:p>
        </p:txBody>
      </p:sp>
      <p:pic>
        <p:nvPicPr>
          <p:cNvPr id="37" name="Icon Primary Web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21608" y="2862072"/>
            <a:ext cx="438912" cy="438912"/>
          </a:xfrm>
          <a:prstGeom prst="rect">
            <a:avLst/>
          </a:prstGeom>
        </p:spPr>
      </p:pic>
      <p:sp>
        <p:nvSpPr>
          <p:cNvPr id="38" name="Label Primary Web 2"/>
          <p:cNvSpPr txBox="1"/>
          <p:nvPr/>
        </p:nvSpPr>
        <p:spPr>
          <a:xfrm>
            <a:off x="3328416" y="3300984"/>
            <a:ext cx="122529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Primary Web 2</a:t>
            </a:r>
            <a:endParaRPr lang="en-US" sz="700"/>
          </a:p>
        </p:txBody>
      </p:sp>
      <p:pic>
        <p:nvPicPr>
          <p:cNvPr id="39" name="Icon Primary App LB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92096" y="3867912"/>
            <a:ext cx="438912" cy="438912"/>
          </a:xfrm>
          <a:prstGeom prst="rect">
            <a:avLst/>
          </a:prstGeom>
        </p:spPr>
      </p:pic>
      <p:sp>
        <p:nvSpPr>
          <p:cNvPr id="40" name="Label Primary App LB"/>
          <p:cNvSpPr txBox="1"/>
          <p:nvPr/>
        </p:nvSpPr>
        <p:spPr>
          <a:xfrm>
            <a:off x="2103120" y="4306824"/>
            <a:ext cx="81686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Primary App LB</a:t>
            </a:r>
            <a:endParaRPr lang="en-US" sz="700"/>
          </a:p>
        </p:txBody>
      </p:sp>
      <p:pic>
        <p:nvPicPr>
          <p:cNvPr id="41" name="Icon Primary App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08960" y="3867912"/>
            <a:ext cx="438912" cy="438912"/>
          </a:xfrm>
          <a:prstGeom prst="rect">
            <a:avLst/>
          </a:prstGeom>
        </p:spPr>
      </p:pic>
      <p:sp>
        <p:nvSpPr>
          <p:cNvPr id="42" name="Label Primary App 1"/>
          <p:cNvSpPr txBox="1"/>
          <p:nvPr/>
        </p:nvSpPr>
        <p:spPr>
          <a:xfrm>
            <a:off x="2919984" y="4306824"/>
            <a:ext cx="81686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Primary App 1</a:t>
            </a:r>
            <a:endParaRPr lang="en-US" sz="700"/>
          </a:p>
        </p:txBody>
      </p:sp>
      <p:pic>
        <p:nvPicPr>
          <p:cNvPr id="43" name="Icon Primary App 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25824" y="3867912"/>
            <a:ext cx="438912" cy="438912"/>
          </a:xfrm>
          <a:prstGeom prst="rect">
            <a:avLst/>
          </a:prstGeom>
        </p:spPr>
      </p:pic>
      <p:sp>
        <p:nvSpPr>
          <p:cNvPr id="44" name="Label Primary App 2"/>
          <p:cNvSpPr txBox="1"/>
          <p:nvPr/>
        </p:nvSpPr>
        <p:spPr>
          <a:xfrm>
            <a:off x="3736848" y="4306824"/>
            <a:ext cx="81686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Primary App 2</a:t>
            </a:r>
            <a:endParaRPr lang="en-US" sz="700"/>
          </a:p>
        </p:txBody>
      </p:sp>
      <p:pic>
        <p:nvPicPr>
          <p:cNvPr id="45" name="Icon Primary DB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08960" y="4873752"/>
            <a:ext cx="438912" cy="438912"/>
          </a:xfrm>
          <a:prstGeom prst="rect">
            <a:avLst/>
          </a:prstGeom>
        </p:spPr>
      </p:pic>
      <p:sp>
        <p:nvSpPr>
          <p:cNvPr id="46" name="Label Primary DB"/>
          <p:cNvSpPr txBox="1"/>
          <p:nvPr/>
        </p:nvSpPr>
        <p:spPr>
          <a:xfrm>
            <a:off x="2103120" y="5312664"/>
            <a:ext cx="245059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Primary DB</a:t>
            </a:r>
            <a:endParaRPr lang="en-US" sz="700"/>
          </a:p>
        </p:txBody>
      </p:sp>
      <p:sp>
        <p:nvSpPr>
          <p:cNvPr id="47" name="VCN boundary"/>
          <p:cNvSpPr/>
          <p:nvPr/>
        </p:nvSpPr>
        <p:spPr>
          <a:xfrm>
            <a:off x="6949440" y="1115568"/>
            <a:ext cx="3913632" cy="4617720"/>
          </a:xfrm>
          <a:prstGeom prst="rect">
            <a:avLst/>
          </a:prstGeom>
          <a:noFill/>
          <a:ln w="25400">
            <a:solidFill>
              <a:srgbClr val="AE562C"/>
            </a:solidFill>
            <a:prstDash val="dash"/>
          </a:ln>
        </p:spPr>
      </p:sp>
      <p:sp>
        <p:nvSpPr>
          <p:cNvPr id="48" name="VCN boundary label"/>
          <p:cNvSpPr txBox="1"/>
          <p:nvPr/>
        </p:nvSpPr>
        <p:spPr>
          <a:xfrm>
            <a:off x="7077456" y="11887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919" b="1">
                <a:solidFill>
                  <a:srgbClr val="AE562C"/>
                </a:solidFill>
                <a:latin typeface="Aptos"/>
                <a:ea typeface="Malgun Gothic"/>
              </a:rPr>
              <a:t>DR Application VCN 10.20.0.0/16</a:t>
            </a:r>
            <a:endParaRPr lang="en-US" sz="919"/>
          </a:p>
        </p:txBody>
      </p:sp>
      <p:pic>
        <p:nvPicPr>
          <p:cNvPr id="49" name="VCN badg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25912" y="978408"/>
            <a:ext cx="274320" cy="274320"/>
          </a:xfrm>
          <a:prstGeom prst="rect">
            <a:avLst/>
          </a:prstGeom>
        </p:spPr>
      </p:pic>
      <p:sp>
        <p:nvSpPr>
          <p:cNvPr id="50" name="Subnet 5"/>
          <p:cNvSpPr/>
          <p:nvPr/>
        </p:nvSpPr>
        <p:spPr>
          <a:xfrm>
            <a:off x="7296912" y="1664208"/>
            <a:ext cx="3218688" cy="82296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51" name="Subnet 5 label"/>
          <p:cNvSpPr txBox="1"/>
          <p:nvPr/>
        </p:nvSpPr>
        <p:spPr>
          <a:xfrm>
            <a:off x="7406640" y="1737360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50" b="1">
                <a:solidFill>
                  <a:srgbClr val="AE562C"/>
                </a:solidFill>
                <a:latin typeface="Aptos"/>
                <a:ea typeface="Malgun Gothic"/>
              </a:rPr>
              <a:t>DR Public Subnet - Public - Edge | 10.20.1.0/24</a:t>
            </a:r>
            <a:endParaRPr lang="en-US" sz="850"/>
          </a:p>
        </p:txBody>
      </p:sp>
      <p:pic>
        <p:nvPicPr>
          <p:cNvPr id="52" name="Subnet 5 route table badg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03536" y="1719072"/>
            <a:ext cx="210312" cy="210312"/>
          </a:xfrm>
          <a:prstGeom prst="rect">
            <a:avLst/>
          </a:prstGeom>
        </p:spPr>
      </p:pic>
      <p:pic>
        <p:nvPicPr>
          <p:cNvPr id="53" name="Subnet 5 security list badg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68712" y="1719072"/>
            <a:ext cx="210312" cy="210312"/>
          </a:xfrm>
          <a:prstGeom prst="rect">
            <a:avLst/>
          </a:prstGeom>
        </p:spPr>
      </p:pic>
      <p:sp>
        <p:nvSpPr>
          <p:cNvPr id="54" name="Subnet 6"/>
          <p:cNvSpPr/>
          <p:nvPr/>
        </p:nvSpPr>
        <p:spPr>
          <a:xfrm>
            <a:off x="7296912" y="2670048"/>
            <a:ext cx="3218688" cy="82296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55" name="Subnet 6 label"/>
          <p:cNvSpPr txBox="1"/>
          <p:nvPr/>
        </p:nvSpPr>
        <p:spPr>
          <a:xfrm>
            <a:off x="7406640" y="2743200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50" b="1">
                <a:solidFill>
                  <a:srgbClr val="AE562C"/>
                </a:solidFill>
                <a:latin typeface="Aptos"/>
                <a:ea typeface="Malgun Gothic"/>
              </a:rPr>
              <a:t>DR Web Subnet - Private - Web | 10.20.2.0/24</a:t>
            </a:r>
            <a:endParaRPr lang="en-US" sz="850"/>
          </a:p>
        </p:txBody>
      </p:sp>
      <p:pic>
        <p:nvPicPr>
          <p:cNvPr id="56" name="Subnet 6 route table badg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03536" y="2724912"/>
            <a:ext cx="210312" cy="210312"/>
          </a:xfrm>
          <a:prstGeom prst="rect">
            <a:avLst/>
          </a:prstGeom>
        </p:spPr>
      </p:pic>
      <p:pic>
        <p:nvPicPr>
          <p:cNvPr id="57" name="Subnet 6 security list badg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68712" y="2724912"/>
            <a:ext cx="210312" cy="210312"/>
          </a:xfrm>
          <a:prstGeom prst="rect">
            <a:avLst/>
          </a:prstGeom>
        </p:spPr>
      </p:pic>
      <p:sp>
        <p:nvSpPr>
          <p:cNvPr id="58" name="Subnet 7"/>
          <p:cNvSpPr/>
          <p:nvPr/>
        </p:nvSpPr>
        <p:spPr>
          <a:xfrm>
            <a:off x="7296912" y="3675888"/>
            <a:ext cx="3218688" cy="82296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59" name="Subnet 7 label"/>
          <p:cNvSpPr txBox="1"/>
          <p:nvPr/>
        </p:nvSpPr>
        <p:spPr>
          <a:xfrm>
            <a:off x="7406640" y="3749040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50" b="1">
                <a:solidFill>
                  <a:srgbClr val="AE562C"/>
                </a:solidFill>
                <a:latin typeface="Aptos"/>
                <a:ea typeface="Malgun Gothic"/>
              </a:rPr>
              <a:t>DR App Subnet - Private - App | 10.20.3.0/24</a:t>
            </a:r>
            <a:endParaRPr lang="en-US" sz="850"/>
          </a:p>
        </p:txBody>
      </p:sp>
      <p:pic>
        <p:nvPicPr>
          <p:cNvPr id="60" name="Subnet 7 route table badg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03536" y="3730752"/>
            <a:ext cx="210312" cy="210312"/>
          </a:xfrm>
          <a:prstGeom prst="rect">
            <a:avLst/>
          </a:prstGeom>
        </p:spPr>
      </p:pic>
      <p:pic>
        <p:nvPicPr>
          <p:cNvPr id="61" name="Subnet 7 security list badg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68712" y="3730752"/>
            <a:ext cx="210312" cy="210312"/>
          </a:xfrm>
          <a:prstGeom prst="rect">
            <a:avLst/>
          </a:prstGeom>
        </p:spPr>
      </p:pic>
      <p:sp>
        <p:nvSpPr>
          <p:cNvPr id="62" name="Subnet 8"/>
          <p:cNvSpPr/>
          <p:nvPr/>
        </p:nvSpPr>
        <p:spPr>
          <a:xfrm>
            <a:off x="7296912" y="4681728"/>
            <a:ext cx="3218688" cy="82296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63" name="Subnet 8 label"/>
          <p:cNvSpPr txBox="1"/>
          <p:nvPr/>
        </p:nvSpPr>
        <p:spPr>
          <a:xfrm>
            <a:off x="7406640" y="4754880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50" b="1">
                <a:solidFill>
                  <a:srgbClr val="AE562C"/>
                </a:solidFill>
                <a:latin typeface="Aptos"/>
                <a:ea typeface="Malgun Gothic"/>
              </a:rPr>
              <a:t>DR DB Subnet - Private - Data | 10.20.4.0/24</a:t>
            </a:r>
            <a:endParaRPr lang="en-US" sz="850"/>
          </a:p>
        </p:txBody>
      </p:sp>
      <p:pic>
        <p:nvPicPr>
          <p:cNvPr id="64" name="Subnet 8 route table badge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003536" y="4736592"/>
            <a:ext cx="210312" cy="210312"/>
          </a:xfrm>
          <a:prstGeom prst="rect">
            <a:avLst/>
          </a:prstGeom>
        </p:spPr>
      </p:pic>
      <p:pic>
        <p:nvPicPr>
          <p:cNvPr id="65" name="Subnet 8 security list badge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68712" y="4736592"/>
            <a:ext cx="210312" cy="210312"/>
          </a:xfrm>
          <a:prstGeom prst="rect">
            <a:avLst/>
          </a:prstGeom>
        </p:spPr>
      </p:pic>
      <p:pic>
        <p:nvPicPr>
          <p:cNvPr id="66" name="Icon IGW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36208" y="1883664"/>
            <a:ext cx="438912" cy="438912"/>
          </a:xfrm>
          <a:prstGeom prst="rect">
            <a:avLst/>
          </a:prstGeom>
        </p:spPr>
      </p:pic>
      <p:sp>
        <p:nvSpPr>
          <p:cNvPr id="67" name="Label IGW"/>
          <p:cNvSpPr txBox="1"/>
          <p:nvPr/>
        </p:nvSpPr>
        <p:spPr>
          <a:xfrm>
            <a:off x="5975604" y="232257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IGW</a:t>
            </a:r>
            <a:endParaRPr lang="en-US" sz="700"/>
          </a:p>
        </p:txBody>
      </p:sp>
      <p:pic>
        <p:nvPicPr>
          <p:cNvPr id="68" name="Icon NAT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36208" y="2889504"/>
            <a:ext cx="438912" cy="438912"/>
          </a:xfrm>
          <a:prstGeom prst="rect">
            <a:avLst/>
          </a:prstGeom>
        </p:spPr>
      </p:pic>
      <p:sp>
        <p:nvSpPr>
          <p:cNvPr id="69" name="Label NAT"/>
          <p:cNvSpPr txBox="1"/>
          <p:nvPr/>
        </p:nvSpPr>
        <p:spPr>
          <a:xfrm>
            <a:off x="5975604" y="332841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NAT</a:t>
            </a:r>
            <a:endParaRPr lang="en-US" sz="700"/>
          </a:p>
        </p:txBody>
      </p:sp>
      <p:pic>
        <p:nvPicPr>
          <p:cNvPr id="70" name="Icon R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291072" y="3867912"/>
            <a:ext cx="438912" cy="438912"/>
          </a:xfrm>
          <a:prstGeom prst="rect">
            <a:avLst/>
          </a:prstGeom>
        </p:spPr>
      </p:pic>
      <p:sp>
        <p:nvSpPr>
          <p:cNvPr id="71" name="Label RPG"/>
          <p:cNvSpPr txBox="1"/>
          <p:nvPr/>
        </p:nvSpPr>
        <p:spPr>
          <a:xfrm>
            <a:off x="6030468" y="4306824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RPG</a:t>
            </a:r>
            <a:endParaRPr lang="en-US" sz="700"/>
          </a:p>
        </p:txBody>
      </p:sp>
      <p:pic>
        <p:nvPicPr>
          <p:cNvPr id="72" name="Icon DR Public LB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686800" y="1856232"/>
            <a:ext cx="438912" cy="438912"/>
          </a:xfrm>
          <a:prstGeom prst="rect">
            <a:avLst/>
          </a:prstGeom>
        </p:spPr>
      </p:pic>
      <p:sp>
        <p:nvSpPr>
          <p:cNvPr id="73" name="Label DR Public LB"/>
          <p:cNvSpPr txBox="1"/>
          <p:nvPr/>
        </p:nvSpPr>
        <p:spPr>
          <a:xfrm>
            <a:off x="7589520" y="2295144"/>
            <a:ext cx="2633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DR Public LB</a:t>
            </a:r>
            <a:endParaRPr lang="en-US" sz="700"/>
          </a:p>
        </p:txBody>
      </p:sp>
      <p:pic>
        <p:nvPicPr>
          <p:cNvPr id="74" name="Icon DR Web 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028432" y="2862072"/>
            <a:ext cx="438912" cy="438912"/>
          </a:xfrm>
          <a:prstGeom prst="rect">
            <a:avLst/>
          </a:prstGeom>
        </p:spPr>
      </p:pic>
      <p:sp>
        <p:nvSpPr>
          <p:cNvPr id="75" name="Label DR Web 1"/>
          <p:cNvSpPr txBox="1"/>
          <p:nvPr/>
        </p:nvSpPr>
        <p:spPr>
          <a:xfrm>
            <a:off x="7589520" y="3300984"/>
            <a:ext cx="131673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DR Web 1</a:t>
            </a:r>
            <a:endParaRPr lang="en-US" sz="700"/>
          </a:p>
        </p:txBody>
      </p:sp>
      <p:pic>
        <p:nvPicPr>
          <p:cNvPr id="76" name="Icon DR Web 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345168" y="2862072"/>
            <a:ext cx="438912" cy="438912"/>
          </a:xfrm>
          <a:prstGeom prst="rect">
            <a:avLst/>
          </a:prstGeom>
        </p:spPr>
      </p:pic>
      <p:sp>
        <p:nvSpPr>
          <p:cNvPr id="77" name="Label DR Web 2"/>
          <p:cNvSpPr txBox="1"/>
          <p:nvPr/>
        </p:nvSpPr>
        <p:spPr>
          <a:xfrm>
            <a:off x="8906256" y="3300984"/>
            <a:ext cx="131673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DR Web 2</a:t>
            </a:r>
            <a:endParaRPr lang="en-US" sz="700"/>
          </a:p>
        </p:txBody>
      </p:sp>
      <p:pic>
        <p:nvPicPr>
          <p:cNvPr id="78" name="Icon DR App LB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08976" y="3867912"/>
            <a:ext cx="438912" cy="438912"/>
          </a:xfrm>
          <a:prstGeom prst="rect">
            <a:avLst/>
          </a:prstGeom>
        </p:spPr>
      </p:pic>
      <p:sp>
        <p:nvSpPr>
          <p:cNvPr id="79" name="Label DR App LB"/>
          <p:cNvSpPr txBox="1"/>
          <p:nvPr/>
        </p:nvSpPr>
        <p:spPr>
          <a:xfrm>
            <a:off x="7589520" y="4306824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DR App LB</a:t>
            </a:r>
            <a:endParaRPr lang="en-US" sz="700"/>
          </a:p>
        </p:txBody>
      </p:sp>
      <p:pic>
        <p:nvPicPr>
          <p:cNvPr id="80" name="Icon DR App 1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686800" y="3867912"/>
            <a:ext cx="438912" cy="438912"/>
          </a:xfrm>
          <a:prstGeom prst="rect">
            <a:avLst/>
          </a:prstGeom>
        </p:spPr>
      </p:pic>
      <p:sp>
        <p:nvSpPr>
          <p:cNvPr id="81" name="Label DR App 1"/>
          <p:cNvSpPr txBox="1"/>
          <p:nvPr/>
        </p:nvSpPr>
        <p:spPr>
          <a:xfrm>
            <a:off x="8467344" y="4306824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DR App 1</a:t>
            </a:r>
            <a:endParaRPr lang="en-US" sz="700"/>
          </a:p>
        </p:txBody>
      </p:sp>
      <p:pic>
        <p:nvPicPr>
          <p:cNvPr id="82" name="Icon DR App 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564624" y="3867912"/>
            <a:ext cx="438912" cy="438912"/>
          </a:xfrm>
          <a:prstGeom prst="rect">
            <a:avLst/>
          </a:prstGeom>
        </p:spPr>
      </p:pic>
      <p:sp>
        <p:nvSpPr>
          <p:cNvPr id="83" name="Label DR App 2"/>
          <p:cNvSpPr txBox="1"/>
          <p:nvPr/>
        </p:nvSpPr>
        <p:spPr>
          <a:xfrm>
            <a:off x="9345168" y="4306824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DR App 2</a:t>
            </a:r>
            <a:endParaRPr lang="en-US" sz="700"/>
          </a:p>
        </p:txBody>
      </p:sp>
      <p:pic>
        <p:nvPicPr>
          <p:cNvPr id="84" name="Icon DR DB Standby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686800" y="4873752"/>
            <a:ext cx="438912" cy="438912"/>
          </a:xfrm>
          <a:prstGeom prst="rect">
            <a:avLst/>
          </a:prstGeom>
        </p:spPr>
      </p:pic>
      <p:sp>
        <p:nvSpPr>
          <p:cNvPr id="85" name="Label DR DB Standby"/>
          <p:cNvSpPr txBox="1"/>
          <p:nvPr/>
        </p:nvSpPr>
        <p:spPr>
          <a:xfrm>
            <a:off x="7589520" y="5312664"/>
            <a:ext cx="2633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DR DB Standby</a:t>
            </a:r>
            <a:endParaRPr lang="en-US" sz="700"/>
          </a:p>
        </p:txBody>
      </p:sp>
      <p:pic>
        <p:nvPicPr>
          <p:cNvPr id="86" name="Icon Internet Users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152" y="1856232"/>
            <a:ext cx="438912" cy="438912"/>
          </a:xfrm>
          <a:prstGeom prst="rect">
            <a:avLst/>
          </a:prstGeom>
        </p:spPr>
      </p:pic>
      <p:sp>
        <p:nvSpPr>
          <p:cNvPr id="87" name="Label Internet Users"/>
          <p:cNvSpPr txBox="1"/>
          <p:nvPr/>
        </p:nvSpPr>
        <p:spPr>
          <a:xfrm>
            <a:off x="-219456" y="2295144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Internet Users</a:t>
            </a:r>
            <a:endParaRPr lang="en-US" sz="700"/>
          </a:p>
        </p:txBody>
      </p:sp>
      <p:cxnSp>
        <p:nvCxnSpPr>
          <p:cNvPr id="88" name="Peering connection primary-rpg to dr-rpg"/>
          <p:cNvCxnSpPr/>
          <p:nvPr/>
        </p:nvCxnSpPr>
        <p:spPr>
          <a:xfrm>
            <a:off x="5852160" y="4087368"/>
            <a:ext cx="438912" cy="914"/>
          </a:xfrm>
          <a:prstGeom prst="straightConnector1">
            <a:avLst/>
          </a:prstGeom>
          <a:ln w="12700">
            <a:solidFill>
              <a:srgbClr val="312D2A"/>
            </a:solidFill>
          </a:ln>
        </p:spPr>
      </p:cxnSp>
      <p:cxnSp>
        <p:nvCxnSpPr>
          <p:cNvPr id="89" name="DataGuard connection primary-db to dr-db-standby"/>
          <p:cNvCxnSpPr/>
          <p:nvPr/>
        </p:nvCxnSpPr>
        <p:spPr>
          <a:xfrm>
            <a:off x="3547872" y="5093208"/>
            <a:ext cx="5138928" cy="914"/>
          </a:xfrm>
          <a:prstGeom prst="straightConnector1">
            <a:avLst/>
          </a:prstGeom>
          <a:ln w="12700">
            <a:solidFill>
              <a:srgbClr val="312D2A"/>
            </a:solidFill>
          </a:ln>
        </p:spPr>
      </p:cxnSp>
      <p:sp>
        <p:nvSpPr>
          <p:cNvPr id="90" name="DataGuard label primary-db to dr-db-standby"/>
          <p:cNvSpPr txBox="1"/>
          <p:nvPr/>
        </p:nvSpPr>
        <p:spPr>
          <a:xfrm>
            <a:off x="5644591" y="4809744"/>
            <a:ext cx="94549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18288" rIns="18288" bIns="18288">
            <a:normAutofit/>
          </a:bodyPr>
          <a:lstStyle/>
          <a:p>
            <a:pPr algn="ctr"/>
            <a:r>
              <a:rPr lang="en-US" sz="740" b="1">
                <a:solidFill>
                  <a:srgbClr val="312D2A"/>
                </a:solidFill>
                <a:latin typeface="Aptos"/>
                <a:ea typeface="Malgun Gothic"/>
              </a:rPr>
              <a:t>DataGuard</a:t>
            </a:r>
            <a:endParaRPr lang="en-US" sz="740"/>
          </a:p>
        </p:txBody>
      </p:sp>
      <p:sp>
        <p:nvSpPr>
          <p:cNvPr id="91" name="Legend"/>
          <p:cNvSpPr txBox="1"/>
          <p:nvPr/>
        </p:nvSpPr>
        <p:spPr>
          <a:xfrm>
            <a:off x="320040" y="6336792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750">
                <a:solidFill>
                  <a:srgbClr val="6B7280"/>
                </a:solidFill>
                <a:latin typeface="Aptos"/>
                <a:ea typeface="Malgun Gothic"/>
              </a:rPr>
              <a:t>Only VCN peering and the DataGuard DB relationship are shown; other traffic and security details are listed on the notes slide.</a:t>
            </a:r>
            <a:endParaRPr lang="en-US" sz="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Notes title"/>
          <p:cNvSpPr txBox="1"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2100" b="1">
                <a:solidFill>
                  <a:srgbClr val="111827"/>
                </a:solidFill>
                <a:latin typeface="Aptos"/>
                <a:ea typeface="Malgun Gothic"/>
              </a:rPr>
              <a:t>Assumptions, Security Notes, and Rendering Notes</a:t>
            </a:r>
            <a:endParaRPr lang="en-US" sz="2100"/>
          </a:p>
        </p:txBody>
      </p:sp>
      <p:sp>
        <p:nvSpPr>
          <p:cNvPr id="4" name="Assumptions box"/>
          <p:cNvSpPr/>
          <p:nvPr/>
        </p:nvSpPr>
        <p:spPr>
          <a:xfrm>
            <a:off x="594360" y="100584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" name="Assumptions"/>
          <p:cNvSpPr txBox="1"/>
          <p:nvPr/>
        </p:nvSpPr>
        <p:spPr>
          <a:xfrm>
            <a:off x="777240" y="1170432"/>
            <a:ext cx="498348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Assumptions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Primary 리전은 Seoul(ap-seoul-1), DR 리전은 Chuncheon(ap-chuncheon-1)로 가정했습니다.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두 VCN은 서로 다른 리전에 있으므로 Remote Peering Gateway/Connection(RPG)으로 연결했습니다.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각 VCN은 Public, Web, App, DB 계층을 regional subnet으로 분리했습니다.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Web 서버 2대와 App 서버 2대는 각 리전에서 Fault Domain 분산을 전제로 표현했습니다.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DB는 Primary 리전의 Primary DB와 DR 리전의 Standby DB를 DataGuard로 복제하는 구조로 표현했습니다.</a:t>
            </a:r>
            <a:endParaRPr lang="en-US" sz="1000"/>
          </a:p>
        </p:txBody>
      </p:sp>
      <p:sp>
        <p:nvSpPr>
          <p:cNvPr id="6" name="Security box"/>
          <p:cNvSpPr/>
          <p:nvPr/>
        </p:nvSpPr>
        <p:spPr>
          <a:xfrm>
            <a:off x="6217920" y="100584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Security notes"/>
          <p:cNvSpPr txBox="1"/>
          <p:nvPr/>
        </p:nvSpPr>
        <p:spPr>
          <a:xfrm>
            <a:off x="6400800" y="1170432"/>
            <a:ext cx="498348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Security and best-practice notes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인터넷 진입점은 각 VCN의 Public LoadBalancer로 제한했습니다.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Web 서버는 Public LoadBalancer의 backend set으로, App 서버는 Private App LoadBalancer의 backend set으로 표현했습니다.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App 및 DB 계층은 private subnet에 배치하고 public access가 없도록 모델링했습니다.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Remote peering 경로는 VCN 간 사설 통신을 위한 네트워크 관계로 표현했으며, 워크로드 트래픽 선과 분리했습니다.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DataGuard 관계만 DB 간 직선 connection line과 label로 표시하고, 나머지 상세 트래픽과 보안 포트는 노트로 관리합니다.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NSG 정책은 LoadBalancer에서 backend, Web에서 Private App LoadBalancer, App에서 DB로 필요한 포트만 허용하는 것을 전제로 합니다.</a:t>
            </a:r>
            <a:endParaRPr lang="en-US" sz="1000"/>
          </a:p>
        </p:txBody>
      </p:sp>
      <p:sp>
        <p:nvSpPr>
          <p:cNvPr id="8" name="Rendering box"/>
          <p:cNvSpPr/>
          <p:nvPr/>
        </p:nvSpPr>
        <p:spPr>
          <a:xfrm>
            <a:off x="594360" y="4315968"/>
            <a:ext cx="10972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9" name="Rendering notes"/>
          <p:cNvSpPr txBox="1"/>
          <p:nvPr/>
        </p:nvSpPr>
        <p:spPr>
          <a:xfrm>
            <a:off x="777240" y="4480560"/>
            <a:ext cx="10561320" cy="104241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Rendering notes</a:t>
            </a:r>
            <a:endParaRPr lang="en-US" sz="919"/>
          </a:p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- IGW: Internet Gateway</a:t>
            </a:r>
            <a:endParaRPr lang="en-US" sz="919"/>
          </a:p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- NAT: NAT Gateway</a:t>
            </a:r>
            <a:endParaRPr lang="en-US" sz="919"/>
          </a:p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- RPG: Remote Peering Gateway</a:t>
            </a:r>
            <a:endParaRPr lang="en-US" sz="919"/>
          </a:p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- Containers, labels, arrows, and notes are editable PowerPoint objects.</a:t>
            </a:r>
            <a:endParaRPr lang="en-US" sz="919"/>
          </a:p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- OCI service icons are embedded image assets in this first renderer slice.</a:t>
            </a:r>
            <a:endParaRPr lang="en-US" sz="919"/>
          </a:p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- Only VCN peering and the DataGuard DB connection line are shown on the architecture slide for readability.</a:t>
            </a:r>
            <a:endParaRPr lang="en-US" sz="91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I Arch Theme">
  <a:themeElements>
    <a:clrScheme name="OCI Arch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C74634"/>
      </a:accent1>
      <a:accent2>
        <a:srgbClr val="1F4E79"/>
      </a:accent2>
      <a:accent3>
        <a:srgbClr val="2E7D32"/>
      </a:accent3>
      <a:accent4>
        <a:srgbClr val="AD6800"/>
      </a:accent4>
      <a:accent5>
        <a:srgbClr val="0E7490"/>
      </a:accent5>
      <a:accent6>
        <a:srgbClr val="7C3AED"/>
      </a:accent6>
      <a:hlink>
        <a:srgbClr val="2563EB"/>
      </a:hlink>
      <a:folHlink>
        <a:srgbClr val="9333EA"/>
      </a:folHlink>
    </a:clrScheme>
    <a:fontScheme name="OCI Arch">
      <a:majorFont>
        <a:latin typeface="Aptos Display"/>
        <a:ea typeface="Malgun Gothic"/>
        <a:cs typeface="Arial"/>
      </a:majorFont>
      <a:minorFont>
        <a:latin typeface="Aptos"/>
        <a:ea typeface="Malgun Gothic"/>
        <a:cs typeface="Arial"/>
      </a:minorFont>
    </a:fontScheme>
    <a:fmtScheme name="OCI Arc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8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oci-arch-pptx</Application>
  <PresentationFormat>On-screen Show (16:9)</PresentationFormat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OCI DR Architecture with Remote Peering and DataGuard</dc:title>
  <dc:creator>oci-arch-pptx</dc:creator>
  <cp:lastModifiedBy>oci-arch-pptx</cp:lastModifiedBy>
  <dcterms:created xsi:type="dcterms:W3CDTF">1980-01-01T00:00:00Z</dcterms:created>
  <dcterms:modified xsi:type="dcterms:W3CDTF">1980-01-01T00:00:00Z</dcterms:modified>
</cp:coreProperties>
</file>