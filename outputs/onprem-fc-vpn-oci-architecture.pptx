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6" r:id="rId1"/>
    <p:sldId id="257" r:id="rId2"/>
    <p:sldId id="258" r:id="rId3"/>
    <p:sldId id="259" r:id="rId4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7.png"/><Relationship Id="rId12" Type="http://schemas.openxmlformats.org/officeDocument/2006/relationships/image" Target="../media/image8.png"/><Relationship Id="rId13" Type="http://schemas.openxmlformats.org/officeDocument/2006/relationships/image" Target="../media/image9.png"/><Relationship Id="rId14" Type="http://schemas.openxmlformats.org/officeDocument/2006/relationships/image" Target="../media/image10.png"/><Relationship Id="rId15" Type="http://schemas.openxmlformats.org/officeDocument/2006/relationships/image" Target="../media/image11.png"/><Relationship Id="rId16" Type="http://schemas.openxmlformats.org/officeDocument/2006/relationships/image" Target="../media/image12.png"/><Relationship Id="rId17" Type="http://schemas.openxmlformats.org/officeDocument/2006/relationships/image" Target="../media/image13.png"/><Relationship Id="rId18" Type="http://schemas.openxmlformats.org/officeDocument/2006/relationships/image" Target="../media/image14.png"/><Relationship Id="rId19" Type="http://schemas.openxmlformats.org/officeDocument/2006/relationships/image" Target="../media/image15.png"/><Relationship Id="rId20" Type="http://schemas.openxmlformats.org/officeDocument/2006/relationships/image" Target="../media/image16.png"/><Relationship Id="rId21" Type="http://schemas.openxmlformats.org/officeDocument/2006/relationships/image" Target="../media/image17.png"/><Relationship Id="rId22" Type="http://schemas.openxmlformats.org/officeDocument/2006/relationships/image" Target="../media/image18.png"/><Relationship Id="rId23" Type="http://schemas.openxmlformats.org/officeDocument/2006/relationships/image" Target="../media/image18.png"/><Relationship Id="rId24" Type="http://schemas.openxmlformats.org/officeDocument/2006/relationships/image" Target="../media/image16.png"/><Relationship Id="rId25" Type="http://schemas.openxmlformats.org/officeDocument/2006/relationships/image" Target="../media/image18.png"/><Relationship Id="rId26" Type="http://schemas.openxmlformats.org/officeDocument/2006/relationships/image" Target="../media/image18.png"/><Relationship Id="rId27" Type="http://schemas.openxmlformats.org/officeDocument/2006/relationships/image" Target="../media/image19.png"/><Relationship Id="rId28" Type="http://schemas.openxmlformats.org/officeDocument/2006/relationships/image" Target="../media/image20.wmf"/><Relationship Id="rId29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3" name="Oracle 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051560"/>
            <a:ext cx="1417320" cy="292608"/>
          </a:xfrm>
          <a:prstGeom prst="rect">
            <a:avLst/>
          </a:prstGeom>
        </p:spPr>
      </p:pic>
      <p:pic>
        <p:nvPicPr>
          <p:cNvPr id="4" name="Cover cloud mo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384048"/>
            <a:ext cx="3611880" cy="2148840"/>
          </a:xfrm>
          <a:prstGeom prst="rect">
            <a:avLst/>
          </a:prstGeom>
        </p:spPr>
      </p:pic>
      <p:sp>
        <p:nvSpPr>
          <p:cNvPr id="5" name="Title"/>
          <p:cNvSpPr txBox="1"/>
          <p:nvPr/>
        </p:nvSpPr>
        <p:spPr>
          <a:xfrm>
            <a:off x="1024128" y="2834640"/>
            <a:ext cx="9144000" cy="53035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3100" b="1">
                <a:solidFill>
                  <a:srgbClr val="312D2A"/>
                </a:solidFill>
                <a:latin typeface="Aptos"/>
                <a:ea typeface="Malgun Gothic"/>
              </a:rPr>
              <a:t>On-Prem FastConnect and VPN OCI Architecture</a:t>
            </a:r>
            <a:endParaRPr lang="en-US" sz="3100"/>
          </a:p>
        </p:txBody>
      </p:sp>
      <p:sp>
        <p:nvSpPr>
          <p:cNvPr id="6" name="Subtitle"/>
          <p:cNvSpPr txBox="1"/>
          <p:nvPr/>
        </p:nvSpPr>
        <p:spPr>
          <a:xfrm>
            <a:off x="1024128" y="34930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700">
                <a:solidFill>
                  <a:srgbClr val="AE562C"/>
                </a:solidFill>
                <a:latin typeface="Aptos"/>
                <a:ea typeface="Malgun Gothic"/>
              </a:rPr>
              <a:t>Hybrid OCI architecture with on-premises Exadata and redundant Web/App tiers</a:t>
            </a:r>
            <a:endParaRPr lang="en-US" sz="1700"/>
          </a:p>
        </p:txBody>
      </p:sp>
      <p:sp>
        <p:nvSpPr>
          <p:cNvPr id="7" name="Scope"/>
          <p:cNvSpPr txBox="1"/>
          <p:nvPr/>
        </p:nvSpPr>
        <p:spPr>
          <a:xfrm>
            <a:off x="1024128" y="4617720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250" b="1">
                <a:solidFill>
                  <a:srgbClr val="312D2A"/>
                </a:solidFill>
                <a:latin typeface="Aptos"/>
                <a:ea typeface="Malgun Gothic"/>
              </a:rPr>
              <a:t>Seoul (ap-seoul-1) - Hybrid VCN</a:t>
            </a:r>
            <a:endParaRPr lang="en-US" sz="1250"/>
          </a:p>
        </p:txBody>
      </p:sp>
      <p:sp>
        <p:nvSpPr>
          <p:cNvPr id="8" name="Deck type"/>
          <p:cNvSpPr txBox="1"/>
          <p:nvPr/>
        </p:nvSpPr>
        <p:spPr>
          <a:xfrm>
            <a:off x="1024128" y="491947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200">
                <a:solidFill>
                  <a:srgbClr val="312D2A"/>
                </a:solidFill>
                <a:latin typeface="Aptos"/>
                <a:ea typeface="Malgun Gothic"/>
              </a:rPr>
              <a:t>Generated architecture deck</a:t>
            </a:r>
            <a:endParaRPr lang="en-US"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Diagram title"/>
          <p:cNvSpPr txBox="1"/>
          <p:nvPr/>
        </p:nvSpPr>
        <p:spPr>
          <a:xfrm>
            <a:off x="320040" y="146304"/>
            <a:ext cx="110642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500" b="1">
                <a:solidFill>
                  <a:srgbClr val="111827"/>
                </a:solidFill>
                <a:latin typeface="Aptos"/>
                <a:ea typeface="Malgun Gothic"/>
              </a:rPr>
              <a:t>On-Prem FastConnect and VPN OCI Architecture</a:t>
            </a:r>
            <a:endParaRPr lang="en-US" sz="1500"/>
          </a:p>
        </p:txBody>
      </p:sp>
      <p:sp>
        <p:nvSpPr>
          <p:cNvPr id="4" name="Region boundary"/>
          <p:cNvSpPr/>
          <p:nvPr/>
        </p:nvSpPr>
        <p:spPr>
          <a:xfrm>
            <a:off x="2743200" y="749808"/>
            <a:ext cx="8778240" cy="5212080"/>
          </a:xfrm>
          <a:prstGeom prst="roundRect">
            <a:avLst>
              <a:gd name="adj" fmla="val 2000"/>
            </a:avLst>
          </a:prstGeom>
          <a:solidFill>
            <a:srgbClr val="F5F4F2"/>
          </a:solidFill>
          <a:ln w="12700">
            <a:solidFill>
              <a:srgbClr val="9E9892"/>
            </a:solidFill>
          </a:ln>
        </p:spPr>
      </p:sp>
      <p:sp>
        <p:nvSpPr>
          <p:cNvPr id="5" name="Region boundary label"/>
          <p:cNvSpPr txBox="1"/>
          <p:nvPr/>
        </p:nvSpPr>
        <p:spPr>
          <a:xfrm>
            <a:off x="2907792" y="822960"/>
            <a:ext cx="84490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ctr"/>
            <a:r>
              <a:rPr lang="en-US" sz="1100" b="1">
                <a:solidFill>
                  <a:srgbClr val="312D2A"/>
                </a:solidFill>
                <a:latin typeface="Aptos"/>
                <a:ea typeface="Malgun Gothic"/>
              </a:rPr>
              <a:t>OCI Region: ap-seoul-1</a:t>
            </a:r>
            <a:endParaRPr lang="en-US" sz="1100"/>
          </a:p>
        </p:txBody>
      </p:sp>
      <p:sp>
        <p:nvSpPr>
          <p:cNvPr id="6" name="VCN boundary"/>
          <p:cNvSpPr/>
          <p:nvPr/>
        </p:nvSpPr>
        <p:spPr>
          <a:xfrm>
            <a:off x="3671316" y="1115568"/>
            <a:ext cx="5440680" cy="4617720"/>
          </a:xfrm>
          <a:prstGeom prst="rect">
            <a:avLst/>
          </a:prstGeom>
          <a:noFill/>
          <a:ln w="25400">
            <a:solidFill>
              <a:srgbClr val="AE562C"/>
            </a:solidFill>
            <a:prstDash val="dash"/>
          </a:ln>
        </p:spPr>
      </p:sp>
      <p:sp>
        <p:nvSpPr>
          <p:cNvPr id="7" name="VCN boundary label"/>
          <p:cNvSpPr txBox="1"/>
          <p:nvPr/>
        </p:nvSpPr>
        <p:spPr>
          <a:xfrm>
            <a:off x="3799332" y="1188720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100" b="1">
                <a:solidFill>
                  <a:srgbClr val="AE562C"/>
                </a:solidFill>
                <a:latin typeface="Aptos"/>
                <a:ea typeface="Malgun Gothic"/>
              </a:rPr>
              <a:t>Hybrid VCN 10.0.0.0/16</a:t>
            </a:r>
            <a:endParaRPr lang="en-US" sz="1100"/>
          </a:p>
        </p:txBody>
      </p:sp>
      <p:pic>
        <p:nvPicPr>
          <p:cNvPr id="8" name="VCN badg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4836" y="978408"/>
            <a:ext cx="274320" cy="274320"/>
          </a:xfrm>
          <a:prstGeom prst="rect">
            <a:avLst/>
          </a:prstGeom>
        </p:spPr>
      </p:pic>
      <p:sp>
        <p:nvSpPr>
          <p:cNvPr id="9" name="Oracle Service Network boundary"/>
          <p:cNvSpPr/>
          <p:nvPr/>
        </p:nvSpPr>
        <p:spPr>
          <a:xfrm>
            <a:off x="9349740" y="1115568"/>
            <a:ext cx="1243584" cy="4617720"/>
          </a:xfrm>
          <a:prstGeom prst="rect">
            <a:avLst/>
          </a:prstGeom>
          <a:solidFill>
            <a:srgbClr val="FCFBFA"/>
          </a:solidFill>
          <a:ln w="12700">
            <a:solidFill>
              <a:srgbClr val="9E9892"/>
            </a:solidFill>
          </a:ln>
        </p:spPr>
      </p:sp>
      <p:sp>
        <p:nvSpPr>
          <p:cNvPr id="10" name="Oracle Service Network boundary label"/>
          <p:cNvSpPr txBox="1"/>
          <p:nvPr/>
        </p:nvSpPr>
        <p:spPr>
          <a:xfrm>
            <a:off x="9404604" y="1207008"/>
            <a:ext cx="1133856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ctr"/>
            <a:r>
              <a:rPr lang="en-US" sz="1100" b="1">
                <a:solidFill>
                  <a:srgbClr val="312D2A"/>
                </a:solidFill>
                <a:latin typeface="Aptos"/>
                <a:ea typeface="Malgun Gothic"/>
              </a:rPr>
              <a:t>OSN</a:t>
            </a:r>
            <a:endParaRPr lang="en-US" sz="1100"/>
          </a:p>
        </p:txBody>
      </p:sp>
      <p:pic>
        <p:nvPicPr>
          <p:cNvPr id="11" name="Icon I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1220" y="1746504"/>
            <a:ext cx="420624" cy="420624"/>
          </a:xfrm>
          <a:prstGeom prst="rect">
            <a:avLst/>
          </a:prstGeom>
        </p:spPr>
      </p:pic>
      <p:sp>
        <p:nvSpPr>
          <p:cNvPr id="12" name="Label IAM"/>
          <p:cNvSpPr txBox="1"/>
          <p:nvPr/>
        </p:nvSpPr>
        <p:spPr>
          <a:xfrm>
            <a:off x="9386316" y="2185416"/>
            <a:ext cx="11704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IAM</a:t>
            </a:r>
            <a:endParaRPr lang="en-US" sz="1100"/>
          </a:p>
        </p:txBody>
      </p:sp>
      <p:pic>
        <p:nvPicPr>
          <p:cNvPr id="13" name="Icon Aud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1220" y="3305556"/>
            <a:ext cx="420624" cy="420624"/>
          </a:xfrm>
          <a:prstGeom prst="rect">
            <a:avLst/>
          </a:prstGeom>
        </p:spPr>
      </p:pic>
      <p:sp>
        <p:nvSpPr>
          <p:cNvPr id="14" name="Label Audit"/>
          <p:cNvSpPr txBox="1"/>
          <p:nvPr/>
        </p:nvSpPr>
        <p:spPr>
          <a:xfrm>
            <a:off x="9386316" y="3744468"/>
            <a:ext cx="117043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Audit</a:t>
            </a:r>
            <a:endParaRPr lang="en-US" sz="1100"/>
          </a:p>
        </p:txBody>
      </p:sp>
      <p:pic>
        <p:nvPicPr>
          <p:cNvPr id="15" name="Icon Object Stor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1220" y="4864608"/>
            <a:ext cx="420624" cy="420624"/>
          </a:xfrm>
          <a:prstGeom prst="rect">
            <a:avLst/>
          </a:prstGeom>
        </p:spPr>
      </p:pic>
      <p:sp>
        <p:nvSpPr>
          <p:cNvPr id="16" name="Label Object Storage"/>
          <p:cNvSpPr txBox="1"/>
          <p:nvPr/>
        </p:nvSpPr>
        <p:spPr>
          <a:xfrm>
            <a:off x="9386316" y="5303520"/>
            <a:ext cx="1170432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Object</a:t>
            </a:r>
            <a:endParaRPr lang="en-US" sz="1100"/>
          </a:p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Storage</a:t>
            </a:r>
            <a:endParaRPr lang="en-US" sz="1100"/>
          </a:p>
        </p:txBody>
      </p:sp>
      <p:sp>
        <p:nvSpPr>
          <p:cNvPr id="17" name="Subnet 1"/>
          <p:cNvSpPr/>
          <p:nvPr/>
        </p:nvSpPr>
        <p:spPr>
          <a:xfrm>
            <a:off x="4018788" y="1664208"/>
            <a:ext cx="4745736" cy="82296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18" name="Subnet 1 label"/>
          <p:cNvSpPr txBox="1"/>
          <p:nvPr/>
        </p:nvSpPr>
        <p:spPr>
          <a:xfrm>
            <a:off x="4128516" y="1737360"/>
            <a:ext cx="4526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100" b="1">
                <a:solidFill>
                  <a:srgbClr val="AE562C"/>
                </a:solidFill>
                <a:latin typeface="Aptos"/>
                <a:ea typeface="Malgun Gothic"/>
              </a:rPr>
              <a:t>Public</a:t>
            </a:r>
            <a:endParaRPr lang="en-US" sz="1100"/>
          </a:p>
        </p:txBody>
      </p:sp>
      <p:pic>
        <p:nvPicPr>
          <p:cNvPr id="19" name="Subnet 1 route table bad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2460" y="1719072"/>
            <a:ext cx="210312" cy="210312"/>
          </a:xfrm>
          <a:prstGeom prst="rect">
            <a:avLst/>
          </a:prstGeom>
        </p:spPr>
      </p:pic>
      <p:pic>
        <p:nvPicPr>
          <p:cNvPr id="20" name="Subnet 1 security list bad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17636" y="1719072"/>
            <a:ext cx="210312" cy="210312"/>
          </a:xfrm>
          <a:prstGeom prst="rect">
            <a:avLst/>
          </a:prstGeom>
        </p:spPr>
      </p:pic>
      <p:sp>
        <p:nvSpPr>
          <p:cNvPr id="21" name="Subnet 2"/>
          <p:cNvSpPr/>
          <p:nvPr/>
        </p:nvSpPr>
        <p:spPr>
          <a:xfrm>
            <a:off x="4018788" y="2670048"/>
            <a:ext cx="4745736" cy="82296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22" name="Subnet 2 label"/>
          <p:cNvSpPr txBox="1"/>
          <p:nvPr/>
        </p:nvSpPr>
        <p:spPr>
          <a:xfrm>
            <a:off x="4128516" y="2743200"/>
            <a:ext cx="4526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100" b="1">
                <a:solidFill>
                  <a:srgbClr val="AE562C"/>
                </a:solidFill>
                <a:latin typeface="Aptos"/>
                <a:ea typeface="Malgun Gothic"/>
              </a:rPr>
              <a:t>Private-Web</a:t>
            </a:r>
            <a:endParaRPr lang="en-US" sz="1100"/>
          </a:p>
        </p:txBody>
      </p:sp>
      <p:pic>
        <p:nvPicPr>
          <p:cNvPr id="23" name="Subnet 2 route table bad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52460" y="2724912"/>
            <a:ext cx="210312" cy="210312"/>
          </a:xfrm>
          <a:prstGeom prst="rect">
            <a:avLst/>
          </a:prstGeom>
        </p:spPr>
      </p:pic>
      <p:pic>
        <p:nvPicPr>
          <p:cNvPr id="24" name="Subnet 2 security list bad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7636" y="2724912"/>
            <a:ext cx="210312" cy="210312"/>
          </a:xfrm>
          <a:prstGeom prst="rect">
            <a:avLst/>
          </a:prstGeom>
        </p:spPr>
      </p:pic>
      <p:sp>
        <p:nvSpPr>
          <p:cNvPr id="25" name="Subnet 3"/>
          <p:cNvSpPr/>
          <p:nvPr/>
        </p:nvSpPr>
        <p:spPr>
          <a:xfrm>
            <a:off x="4018788" y="3675888"/>
            <a:ext cx="4745736" cy="82296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26" name="Subnet 3 label"/>
          <p:cNvSpPr txBox="1"/>
          <p:nvPr/>
        </p:nvSpPr>
        <p:spPr>
          <a:xfrm>
            <a:off x="4128516" y="3749040"/>
            <a:ext cx="4526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100" b="1">
                <a:solidFill>
                  <a:srgbClr val="AE562C"/>
                </a:solidFill>
                <a:latin typeface="Aptos"/>
                <a:ea typeface="Malgun Gothic"/>
              </a:rPr>
              <a:t>Private-App</a:t>
            </a:r>
            <a:endParaRPr lang="en-US" sz="1100"/>
          </a:p>
        </p:txBody>
      </p:sp>
      <p:pic>
        <p:nvPicPr>
          <p:cNvPr id="27" name="Subnet 3 route table bad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52460" y="3730752"/>
            <a:ext cx="210312" cy="210312"/>
          </a:xfrm>
          <a:prstGeom prst="rect">
            <a:avLst/>
          </a:prstGeom>
        </p:spPr>
      </p:pic>
      <p:pic>
        <p:nvPicPr>
          <p:cNvPr id="28" name="Subnet 3 security list bad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17636" y="3730752"/>
            <a:ext cx="210312" cy="210312"/>
          </a:xfrm>
          <a:prstGeom prst="rect">
            <a:avLst/>
          </a:prstGeom>
        </p:spPr>
      </p:pic>
      <p:sp>
        <p:nvSpPr>
          <p:cNvPr id="29" name="Subnet 4"/>
          <p:cNvSpPr/>
          <p:nvPr/>
        </p:nvSpPr>
        <p:spPr>
          <a:xfrm>
            <a:off x="4018788" y="4681728"/>
            <a:ext cx="4745736" cy="822960"/>
          </a:xfrm>
          <a:prstGeom prst="rect">
            <a:avLst/>
          </a:prstGeom>
          <a:noFill/>
          <a:ln w="12700">
            <a:solidFill>
              <a:srgbClr val="AE562C"/>
            </a:solidFill>
            <a:prstDash val="dash"/>
          </a:ln>
        </p:spPr>
      </p:sp>
      <p:sp>
        <p:nvSpPr>
          <p:cNvPr id="30" name="Subnet 4 label"/>
          <p:cNvSpPr txBox="1"/>
          <p:nvPr/>
        </p:nvSpPr>
        <p:spPr>
          <a:xfrm>
            <a:off x="4128516" y="4754880"/>
            <a:ext cx="4526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100" b="1">
                <a:solidFill>
                  <a:srgbClr val="AE562C"/>
                </a:solidFill>
                <a:latin typeface="Aptos"/>
                <a:ea typeface="Malgun Gothic"/>
              </a:rPr>
              <a:t>Private-DB</a:t>
            </a:r>
            <a:endParaRPr lang="en-US" sz="1100"/>
          </a:p>
        </p:txBody>
      </p:sp>
      <p:pic>
        <p:nvPicPr>
          <p:cNvPr id="31" name="Subnet 4 route table bad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52460" y="4736592"/>
            <a:ext cx="210312" cy="210312"/>
          </a:xfrm>
          <a:prstGeom prst="rect">
            <a:avLst/>
          </a:prstGeom>
        </p:spPr>
      </p:pic>
      <p:pic>
        <p:nvPicPr>
          <p:cNvPr id="32" name="Subnet 4 security list bad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17636" y="4736592"/>
            <a:ext cx="210312" cy="210312"/>
          </a:xfrm>
          <a:prstGeom prst="rect">
            <a:avLst/>
          </a:prstGeom>
        </p:spPr>
      </p:pic>
      <p:sp>
        <p:nvSpPr>
          <p:cNvPr id="33" name="External Network boundary"/>
          <p:cNvSpPr/>
          <p:nvPr/>
        </p:nvSpPr>
        <p:spPr>
          <a:xfrm>
            <a:off x="685800" y="1984248"/>
            <a:ext cx="1371600" cy="3063240"/>
          </a:xfrm>
          <a:prstGeom prst="roundRect">
            <a:avLst>
              <a:gd name="adj" fmla="val 2000"/>
            </a:avLst>
          </a:prstGeom>
          <a:solidFill>
            <a:srgbClr val="F5F4F2"/>
          </a:solidFill>
          <a:ln w="12700">
            <a:solidFill>
              <a:srgbClr val="9E9892"/>
            </a:solidFill>
          </a:ln>
        </p:spPr>
      </p:sp>
      <p:sp>
        <p:nvSpPr>
          <p:cNvPr id="34" name="External Network boundary label"/>
          <p:cNvSpPr txBox="1"/>
          <p:nvPr/>
        </p:nvSpPr>
        <p:spPr>
          <a:xfrm>
            <a:off x="758952" y="2057400"/>
            <a:ext cx="1225296" cy="438912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ctr"/>
            <a:r>
              <a:rPr lang="en-US" sz="1100" b="1">
                <a:solidFill>
                  <a:srgbClr val="312D2A"/>
                </a:solidFill>
                <a:latin typeface="Aptos"/>
                <a:ea typeface="Malgun Gothic"/>
              </a:rPr>
              <a:t>On-Prem</a:t>
            </a:r>
            <a:endParaRPr lang="en-US" sz="1100"/>
          </a:p>
          <a:p>
            <a:pPr algn="ctr"/>
            <a:r>
              <a:rPr lang="en-US" sz="1100" b="1">
                <a:solidFill>
                  <a:srgbClr val="312D2A"/>
                </a:solidFill>
                <a:latin typeface="Aptos"/>
                <a:ea typeface="Malgun Gothic"/>
              </a:rPr>
              <a:t>Network</a:t>
            </a:r>
            <a:endParaRPr lang="en-US" sz="1100"/>
          </a:p>
        </p:txBody>
      </p:sp>
      <p:pic>
        <p:nvPicPr>
          <p:cNvPr id="35" name="Icon CP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5568" y="3232404"/>
            <a:ext cx="512064" cy="512064"/>
          </a:xfrm>
          <a:prstGeom prst="rect">
            <a:avLst/>
          </a:prstGeom>
        </p:spPr>
      </p:pic>
      <p:sp>
        <p:nvSpPr>
          <p:cNvPr id="36" name="Label CPE"/>
          <p:cNvSpPr txBox="1"/>
          <p:nvPr/>
        </p:nvSpPr>
        <p:spPr>
          <a:xfrm>
            <a:off x="877824" y="3762756"/>
            <a:ext cx="98755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CPE</a:t>
            </a:r>
            <a:endParaRPr lang="en-US" sz="1100"/>
          </a:p>
        </p:txBody>
      </p:sp>
      <p:pic>
        <p:nvPicPr>
          <p:cNvPr id="37" name="Icon On-Prem Exadata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15568" y="3982212"/>
            <a:ext cx="512064" cy="512064"/>
          </a:xfrm>
          <a:prstGeom prst="rect">
            <a:avLst/>
          </a:prstGeom>
        </p:spPr>
      </p:pic>
      <p:sp>
        <p:nvSpPr>
          <p:cNvPr id="38" name="Label On-Prem Exadata"/>
          <p:cNvSpPr txBox="1"/>
          <p:nvPr/>
        </p:nvSpPr>
        <p:spPr>
          <a:xfrm>
            <a:off x="740664" y="4512564"/>
            <a:ext cx="1261872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On-Prem Exadata</a:t>
            </a:r>
            <a:endParaRPr lang="en-US" sz="1100"/>
          </a:p>
        </p:txBody>
      </p:sp>
      <p:pic>
        <p:nvPicPr>
          <p:cNvPr id="39" name="Icon User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5568" y="1051560"/>
            <a:ext cx="512064" cy="512064"/>
          </a:xfrm>
          <a:prstGeom prst="rect">
            <a:avLst/>
          </a:prstGeom>
        </p:spPr>
      </p:pic>
      <p:sp>
        <p:nvSpPr>
          <p:cNvPr id="40" name="Label User"/>
          <p:cNvSpPr txBox="1"/>
          <p:nvPr/>
        </p:nvSpPr>
        <p:spPr>
          <a:xfrm>
            <a:off x="859536" y="1581912"/>
            <a:ext cx="102412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User</a:t>
            </a:r>
            <a:endParaRPr lang="en-US" sz="1100"/>
          </a:p>
        </p:txBody>
      </p:sp>
      <p:pic>
        <p:nvPicPr>
          <p:cNvPr id="41" name="Icon IGW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415284" y="1883664"/>
            <a:ext cx="512064" cy="512064"/>
          </a:xfrm>
          <a:prstGeom prst="rect">
            <a:avLst/>
          </a:prstGeom>
        </p:spPr>
      </p:pic>
      <p:sp>
        <p:nvSpPr>
          <p:cNvPr id="42" name="Label IGW"/>
          <p:cNvSpPr txBox="1"/>
          <p:nvPr/>
        </p:nvSpPr>
        <p:spPr>
          <a:xfrm>
            <a:off x="3387852" y="241401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IGW</a:t>
            </a:r>
            <a:endParaRPr lang="en-US" sz="1100"/>
          </a:p>
        </p:txBody>
      </p:sp>
      <p:pic>
        <p:nvPicPr>
          <p:cNvPr id="43" name="Icon NAT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15284" y="2889504"/>
            <a:ext cx="512064" cy="512064"/>
          </a:xfrm>
          <a:prstGeom prst="rect">
            <a:avLst/>
          </a:prstGeom>
        </p:spPr>
      </p:pic>
      <p:sp>
        <p:nvSpPr>
          <p:cNvPr id="44" name="Label NAT"/>
          <p:cNvSpPr txBox="1"/>
          <p:nvPr/>
        </p:nvSpPr>
        <p:spPr>
          <a:xfrm>
            <a:off x="3387852" y="341985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NAT</a:t>
            </a:r>
            <a:endParaRPr lang="en-US" sz="1100"/>
          </a:p>
        </p:txBody>
      </p:sp>
      <p:pic>
        <p:nvPicPr>
          <p:cNvPr id="45" name="Icon SGW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837676" y="4901184"/>
            <a:ext cx="512064" cy="512064"/>
          </a:xfrm>
          <a:prstGeom prst="rect">
            <a:avLst/>
          </a:prstGeom>
        </p:spPr>
      </p:pic>
      <p:sp>
        <p:nvSpPr>
          <p:cNvPr id="46" name="Label SGW"/>
          <p:cNvSpPr txBox="1"/>
          <p:nvPr/>
        </p:nvSpPr>
        <p:spPr>
          <a:xfrm>
            <a:off x="8810244" y="5431536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SGW</a:t>
            </a:r>
            <a:endParaRPr lang="en-US" sz="1100"/>
          </a:p>
        </p:txBody>
      </p:sp>
      <p:pic>
        <p:nvPicPr>
          <p:cNvPr id="47" name="Icon DR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049524" y="3982212"/>
            <a:ext cx="512064" cy="512064"/>
          </a:xfrm>
          <a:prstGeom prst="rect">
            <a:avLst/>
          </a:prstGeom>
        </p:spPr>
      </p:pic>
      <p:sp>
        <p:nvSpPr>
          <p:cNvPr id="48" name="Label DRG"/>
          <p:cNvSpPr txBox="1"/>
          <p:nvPr/>
        </p:nvSpPr>
        <p:spPr>
          <a:xfrm>
            <a:off x="3022092" y="4512564"/>
            <a:ext cx="566928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DRG</a:t>
            </a:r>
            <a:endParaRPr lang="en-US" sz="1100"/>
          </a:p>
        </p:txBody>
      </p:sp>
      <p:pic>
        <p:nvPicPr>
          <p:cNvPr id="49" name="Icon Public Load Balancer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77790" y="1901952"/>
            <a:ext cx="347472" cy="347472"/>
          </a:xfrm>
          <a:prstGeom prst="rect">
            <a:avLst/>
          </a:prstGeom>
        </p:spPr>
      </p:pic>
      <p:sp>
        <p:nvSpPr>
          <p:cNvPr id="50" name="Label Public Load Balancer"/>
          <p:cNvSpPr txBox="1"/>
          <p:nvPr/>
        </p:nvSpPr>
        <p:spPr>
          <a:xfrm>
            <a:off x="4528566" y="226771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Public</a:t>
            </a:r>
            <a:endParaRPr lang="en-US" sz="1100"/>
          </a:p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Load Balancer</a:t>
            </a:r>
            <a:endParaRPr lang="en-US" sz="1100"/>
          </a:p>
        </p:txBody>
      </p:sp>
      <p:pic>
        <p:nvPicPr>
          <p:cNvPr id="51" name="Icon Bastion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258050" y="1901952"/>
            <a:ext cx="347472" cy="347472"/>
          </a:xfrm>
          <a:prstGeom prst="rect">
            <a:avLst/>
          </a:prstGeom>
        </p:spPr>
      </p:pic>
      <p:sp>
        <p:nvSpPr>
          <p:cNvPr id="52" name="Label Bastion"/>
          <p:cNvSpPr txBox="1"/>
          <p:nvPr/>
        </p:nvSpPr>
        <p:spPr>
          <a:xfrm>
            <a:off x="6608826" y="2267712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Bastion</a:t>
            </a:r>
            <a:endParaRPr lang="en-US" sz="1100"/>
          </a:p>
        </p:txBody>
      </p:sp>
      <p:pic>
        <p:nvPicPr>
          <p:cNvPr id="53" name="Icon Web Server 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177790" y="2907792"/>
            <a:ext cx="347472" cy="347472"/>
          </a:xfrm>
          <a:prstGeom prst="rect">
            <a:avLst/>
          </a:prstGeom>
        </p:spPr>
      </p:pic>
      <p:sp>
        <p:nvSpPr>
          <p:cNvPr id="54" name="Label Web Server 1"/>
          <p:cNvSpPr txBox="1"/>
          <p:nvPr/>
        </p:nvSpPr>
        <p:spPr>
          <a:xfrm>
            <a:off x="4528566" y="3273552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Web Server 1</a:t>
            </a:r>
            <a:endParaRPr lang="en-US" sz="1100"/>
          </a:p>
        </p:txBody>
      </p:sp>
      <p:pic>
        <p:nvPicPr>
          <p:cNvPr id="55" name="Icon Web Server 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58050" y="2907792"/>
            <a:ext cx="347472" cy="347472"/>
          </a:xfrm>
          <a:prstGeom prst="rect">
            <a:avLst/>
          </a:prstGeom>
        </p:spPr>
      </p:pic>
      <p:sp>
        <p:nvSpPr>
          <p:cNvPr id="56" name="Label Web Server 2"/>
          <p:cNvSpPr txBox="1"/>
          <p:nvPr/>
        </p:nvSpPr>
        <p:spPr>
          <a:xfrm>
            <a:off x="6608826" y="3273552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Web Server 2</a:t>
            </a:r>
            <a:endParaRPr lang="en-US" sz="1100"/>
          </a:p>
        </p:txBody>
      </p:sp>
      <p:pic>
        <p:nvPicPr>
          <p:cNvPr id="57" name="Icon Internal Load Balancer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831080" y="3913632"/>
            <a:ext cx="347472" cy="347472"/>
          </a:xfrm>
          <a:prstGeom prst="rect">
            <a:avLst/>
          </a:prstGeom>
        </p:spPr>
      </p:pic>
      <p:sp>
        <p:nvSpPr>
          <p:cNvPr id="58" name="Label Internal Load Balancer"/>
          <p:cNvSpPr txBox="1"/>
          <p:nvPr/>
        </p:nvSpPr>
        <p:spPr>
          <a:xfrm>
            <a:off x="4311396" y="4279392"/>
            <a:ext cx="138684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Internal</a:t>
            </a:r>
            <a:endParaRPr lang="en-US" sz="1100"/>
          </a:p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Load Balancer</a:t>
            </a:r>
            <a:endParaRPr lang="en-US" sz="1100"/>
          </a:p>
        </p:txBody>
      </p:sp>
      <p:pic>
        <p:nvPicPr>
          <p:cNvPr id="59" name="Icon App Server 1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217920" y="3913632"/>
            <a:ext cx="347472" cy="347472"/>
          </a:xfrm>
          <a:prstGeom prst="rect">
            <a:avLst/>
          </a:prstGeom>
        </p:spPr>
      </p:pic>
      <p:sp>
        <p:nvSpPr>
          <p:cNvPr id="60" name="Label App Server 1"/>
          <p:cNvSpPr txBox="1"/>
          <p:nvPr/>
        </p:nvSpPr>
        <p:spPr>
          <a:xfrm>
            <a:off x="5698236" y="4279392"/>
            <a:ext cx="1386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App Server 1</a:t>
            </a:r>
            <a:endParaRPr lang="en-US" sz="1100"/>
          </a:p>
        </p:txBody>
      </p:sp>
      <p:pic>
        <p:nvPicPr>
          <p:cNvPr id="61" name="Icon App Server 2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604760" y="3913632"/>
            <a:ext cx="347472" cy="347472"/>
          </a:xfrm>
          <a:prstGeom prst="rect">
            <a:avLst/>
          </a:prstGeom>
        </p:spPr>
      </p:pic>
      <p:sp>
        <p:nvSpPr>
          <p:cNvPr id="62" name="Label App Server 2"/>
          <p:cNvSpPr txBox="1"/>
          <p:nvPr/>
        </p:nvSpPr>
        <p:spPr>
          <a:xfrm>
            <a:off x="7085076" y="4279392"/>
            <a:ext cx="13868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App Server 2</a:t>
            </a:r>
            <a:endParaRPr lang="en-US" sz="1100"/>
          </a:p>
        </p:txBody>
      </p:sp>
      <p:pic>
        <p:nvPicPr>
          <p:cNvPr id="63" name="Icon DB Service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217920" y="4919472"/>
            <a:ext cx="347472" cy="347472"/>
          </a:xfrm>
          <a:prstGeom prst="rect">
            <a:avLst/>
          </a:prstGeom>
        </p:spPr>
      </p:pic>
      <p:sp>
        <p:nvSpPr>
          <p:cNvPr id="64" name="Label DB Service"/>
          <p:cNvSpPr txBox="1"/>
          <p:nvPr/>
        </p:nvSpPr>
        <p:spPr>
          <a:xfrm>
            <a:off x="5568696" y="5285232"/>
            <a:ext cx="1645920" cy="310896"/>
          </a:xfrm>
          <a:prstGeom prst="rect">
            <a:avLst/>
          </a:prstGeom>
          <a:noFill/>
          <a:ln>
            <a:noFill/>
          </a:ln>
        </p:spPr>
        <p:txBody>
          <a:bodyPr wrap="square" anchor="ctr" lIns="9144" tIns="9144" rIns="9144" bIns="9144">
            <a:normAutofit/>
          </a:bodyPr>
          <a:lstStyle/>
          <a:p>
            <a:pPr algn="ctr"/>
            <a:r>
              <a:rPr lang="en-US" sz="1100">
                <a:solidFill>
                  <a:srgbClr val="111827"/>
                </a:solidFill>
                <a:latin typeface="Aptos"/>
                <a:ea typeface="Malgun Gothic"/>
              </a:rPr>
              <a:t>DB Service</a:t>
            </a:r>
            <a:endParaRPr lang="en-US" sz="1100"/>
          </a:p>
        </p:txBody>
      </p:sp>
      <p:cxnSp>
        <p:nvCxnSpPr>
          <p:cNvPr id="65" name="Hybrid connection 1"/>
          <p:cNvCxnSpPr/>
          <p:nvPr/>
        </p:nvCxnSpPr>
        <p:spPr>
          <a:xfrm>
            <a:off x="1627632" y="4082796"/>
            <a:ext cx="1421892" cy="914"/>
          </a:xfrm>
          <a:prstGeom prst="straightConnector1">
            <a:avLst/>
          </a:prstGeom>
          <a:ln w="12700">
            <a:solidFill>
              <a:srgbClr val="312D2A"/>
            </a:solidFill>
          </a:ln>
        </p:spPr>
      </p:cxnSp>
      <p:sp>
        <p:nvSpPr>
          <p:cNvPr id="66" name="Hybrid connection label 1"/>
          <p:cNvSpPr txBox="1"/>
          <p:nvPr/>
        </p:nvSpPr>
        <p:spPr>
          <a:xfrm>
            <a:off x="2243023" y="3717036"/>
            <a:ext cx="715061" cy="329184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18288" rIns="18288" bIns="18288">
            <a:normAutofit/>
          </a:bodyPr>
          <a:lstStyle/>
          <a:p>
            <a:pPr algn="ctr"/>
            <a:r>
              <a:rPr lang="en-US" sz="1100" b="1">
                <a:solidFill>
                  <a:srgbClr val="312D2A"/>
                </a:solidFill>
                <a:latin typeface="Aptos"/>
                <a:ea typeface="Malgun Gothic"/>
              </a:rPr>
              <a:t>Fast</a:t>
            </a:r>
            <a:endParaRPr lang="en-US" sz="1100"/>
          </a:p>
          <a:p>
            <a:pPr algn="ctr"/>
            <a:r>
              <a:rPr lang="en-US" sz="1100" b="1">
                <a:solidFill>
                  <a:srgbClr val="312D2A"/>
                </a:solidFill>
                <a:latin typeface="Aptos"/>
                <a:ea typeface="Malgun Gothic"/>
              </a:rPr>
              <a:t>Connect</a:t>
            </a:r>
            <a:endParaRPr lang="en-US" sz="1100"/>
          </a:p>
        </p:txBody>
      </p:sp>
      <p:cxnSp>
        <p:nvCxnSpPr>
          <p:cNvPr id="67" name="Hybrid connection 2"/>
          <p:cNvCxnSpPr/>
          <p:nvPr/>
        </p:nvCxnSpPr>
        <p:spPr>
          <a:xfrm>
            <a:off x="1627632" y="4393692"/>
            <a:ext cx="1421892" cy="914"/>
          </a:xfrm>
          <a:prstGeom prst="straightConnector1">
            <a:avLst/>
          </a:prstGeom>
          <a:ln w="12700">
            <a:solidFill>
              <a:srgbClr val="312D2A"/>
            </a:solidFill>
            <a:prstDash val="dash"/>
          </a:ln>
        </p:spPr>
      </p:cxnSp>
      <p:pic>
        <p:nvPicPr>
          <p:cNvPr id="68" name="VPN marker 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827325" y="4273906"/>
            <a:ext cx="261518" cy="239573"/>
          </a:xfrm>
          <a:prstGeom prst="rect">
            <a:avLst/>
          </a:prstGeom>
        </p:spPr>
      </p:pic>
      <p:sp>
        <p:nvSpPr>
          <p:cNvPr id="69" name="Hybrid connection label 2"/>
          <p:cNvSpPr txBox="1"/>
          <p:nvPr/>
        </p:nvSpPr>
        <p:spPr>
          <a:xfrm>
            <a:off x="2244852" y="4137660"/>
            <a:ext cx="713232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18288" tIns="18288" rIns="18288" bIns="18288">
            <a:normAutofit/>
          </a:bodyPr>
          <a:lstStyle/>
          <a:p>
            <a:pPr algn="ctr"/>
            <a:r>
              <a:rPr lang="en-US" sz="1100" b="1">
                <a:solidFill>
                  <a:srgbClr val="312D2A"/>
                </a:solidFill>
                <a:latin typeface="Aptos"/>
                <a:ea typeface="Malgun Gothic"/>
              </a:rPr>
              <a:t>VPN</a:t>
            </a:r>
            <a:endParaRPr lang="en-US" sz="1100"/>
          </a:p>
        </p:txBody>
      </p:sp>
      <p:sp>
        <p:nvSpPr>
          <p:cNvPr id="70" name="Legend"/>
          <p:cNvSpPr txBox="1"/>
          <p:nvPr/>
        </p:nvSpPr>
        <p:spPr>
          <a:xfrm>
            <a:off x="320040" y="6336792"/>
            <a:ext cx="11201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000">
                <a:solidFill>
                  <a:srgbClr val="FF0000"/>
                </a:solidFill>
                <a:latin typeface="Aptos"/>
                <a:ea typeface="Malgun Gothic"/>
              </a:rPr>
              <a:t>본 문서는 AI 산출물이므로 정확하지 않을 수 있습니다. 반드시 검증 후 사용하십시오.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Notes title"/>
          <p:cNvSpPr txBox="1"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2100" b="1">
                <a:solidFill>
                  <a:srgbClr val="111827"/>
                </a:solidFill>
                <a:latin typeface="Aptos"/>
                <a:ea typeface="Malgun Gothic"/>
              </a:rPr>
              <a:t>가정, 보안 및 렌더링 노트</a:t>
            </a:r>
            <a:endParaRPr lang="en-US" sz="2100"/>
          </a:p>
        </p:txBody>
      </p:sp>
      <p:sp>
        <p:nvSpPr>
          <p:cNvPr id="4" name="Assumptions box"/>
          <p:cNvSpPr/>
          <p:nvPr/>
        </p:nvSpPr>
        <p:spPr>
          <a:xfrm>
            <a:off x="594360" y="100584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5" name="Assumptions"/>
          <p:cNvSpPr txBox="1"/>
          <p:nvPr/>
        </p:nvSpPr>
        <p:spPr>
          <a:xfrm>
            <a:off x="777240" y="1170432"/>
            <a:ext cx="4983480" cy="26060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가정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OCI 리전이 명시되지 않아 ap-seoul-1 단일 리전으로 가정했습니다.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CIDR이 명시되지 않아 VCN 10.0.0.0/16 및 /24 단위 예시 서브넷으로 표기했습니다.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On-Premises에는 고객 데이터센터, CPE, On-Prem Exadata가 존재하는 것으로 모델링했습니다.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전용선은 FastConnect, VPN은 Site-to-Site VPN 백업 경로로 표현했습니다.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OCI DB 서브넷에는 구체 리소스가 명시되지 않아 DB Service 논리 리소스를 배치했습니다.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공간 활용 및 DB 백업/Oracle 서비스 접근 맥락을 위해 OSN을 표시했습니다.</a:t>
            </a:r>
            <a:endParaRPr lang="en-US" sz="1000"/>
          </a:p>
        </p:txBody>
      </p:sp>
      <p:sp>
        <p:nvSpPr>
          <p:cNvPr id="6" name="Security box"/>
          <p:cNvSpPr/>
          <p:nvPr/>
        </p:nvSpPr>
        <p:spPr>
          <a:xfrm>
            <a:off x="6217920" y="1005840"/>
            <a:ext cx="53492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7" name="Security notes"/>
          <p:cNvSpPr txBox="1"/>
          <p:nvPr/>
        </p:nvSpPr>
        <p:spPr>
          <a:xfrm>
            <a:off x="6400800" y="1170432"/>
            <a:ext cx="4983480" cy="260604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보안 및 Best-Practice 노트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FastConnect와 Site-to-Site VPN은 On-Prem CPE에서 OCI DRG로 연결되는 별도 하이브리드 네트워크 경로입니다.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Public Subnet은 Public Load Balancer와 Bastion만 포함하고, Web/App/DB 워크로드는 private subnet에 배치했습니다.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Web tier와 App tier는 각각 2대의 서버로 이중화하고, Web은 Public Load Balancer, App은 Internal Load Balancer 뒤에 배치했습니다.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Private subnet의 외부 패치/업데이트 경로는 NAT Gateway, Object Storage 등 Oracle 서비스 접근은 Service Gateway와 OSN으로 표현했습니다.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On-Prem Exadata와 OCI DB tier 간 실제 복제 또는 동기화 방식은 요구사항에 명시되지 않아 다이어그램에는 표시하지 않았습니다.</a:t>
            </a:r>
            <a:endParaRPr lang="en-US" sz="1000"/>
          </a:p>
          <a:p>
            <a:pPr algn="l"/>
            <a:r>
              <a:rPr lang="en-US" sz="1000">
                <a:solidFill>
                  <a:srgbClr val="374151"/>
                </a:solidFill>
                <a:latin typeface="Aptos"/>
                <a:ea typeface="Malgun Gothic"/>
              </a:rPr>
              <a:t>- 미확정 사항: 실제 OCI Region과 CIDR이 명시되지 않았습니다.; OCI DB subnet에 배치할 실제 DB 서비스가 명시되지 않았습니다.; On-Prem Exadata와 OCI DB tier 사이의 데이터 보호 방식이 명시되지 않았습니다.</a:t>
            </a:r>
            <a:endParaRPr lang="en-US" sz="1000"/>
          </a:p>
        </p:txBody>
      </p:sp>
      <p:sp>
        <p:nvSpPr>
          <p:cNvPr id="8" name="Rendering box"/>
          <p:cNvSpPr/>
          <p:nvPr/>
        </p:nvSpPr>
        <p:spPr>
          <a:xfrm>
            <a:off x="594360" y="4169664"/>
            <a:ext cx="10972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9" name="Rendering notes"/>
          <p:cNvSpPr txBox="1"/>
          <p:nvPr/>
        </p:nvSpPr>
        <p:spPr>
          <a:xfrm>
            <a:off x="777240" y="4343400"/>
            <a:ext cx="10561320" cy="1426464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30">
                <a:solidFill>
                  <a:srgbClr val="374151"/>
                </a:solidFill>
                <a:latin typeface="Aptos"/>
                <a:ea typeface="Malgun Gothic"/>
              </a:rPr>
              <a:t>렌더링 노트</a:t>
            </a:r>
            <a:endParaRPr lang="en-US" sz="830"/>
          </a:p>
          <a:p>
            <a:pPr algn="l"/>
            <a:r>
              <a:rPr lang="en-US" sz="830">
                <a:solidFill>
                  <a:srgbClr val="374151"/>
                </a:solidFill>
                <a:latin typeface="Aptos"/>
                <a:ea typeface="Malgun Gothic"/>
              </a:rPr>
              <a:t>- DRG: Dynamic Routing Gateway</a:t>
            </a:r>
            <a:endParaRPr lang="en-US" sz="830"/>
          </a:p>
          <a:p>
            <a:pPr algn="l"/>
            <a:r>
              <a:rPr lang="en-US" sz="830">
                <a:solidFill>
                  <a:srgbClr val="374151"/>
                </a:solidFill>
                <a:latin typeface="Aptos"/>
                <a:ea typeface="Malgun Gothic"/>
              </a:rPr>
              <a:t>- FastConnect: rendered as a hybrid connection label</a:t>
            </a:r>
            <a:endParaRPr lang="en-US" sz="830"/>
          </a:p>
          <a:p>
            <a:pPr algn="l"/>
            <a:r>
              <a:rPr lang="en-US" sz="830">
                <a:solidFill>
                  <a:srgbClr val="374151"/>
                </a:solidFill>
                <a:latin typeface="Aptos"/>
                <a:ea typeface="Malgun Gothic"/>
              </a:rPr>
              <a:t>- IGW: Internet Gateway</a:t>
            </a:r>
            <a:endParaRPr lang="en-US" sz="830"/>
          </a:p>
          <a:p>
            <a:pPr algn="l"/>
            <a:r>
              <a:rPr lang="en-US" sz="830">
                <a:solidFill>
                  <a:srgbClr val="374151"/>
                </a:solidFill>
                <a:latin typeface="Aptos"/>
                <a:ea typeface="Malgun Gothic"/>
              </a:rPr>
              <a:t>- NAT: NAT Gateway</a:t>
            </a:r>
            <a:endParaRPr lang="en-US" sz="830"/>
          </a:p>
          <a:p>
            <a:pPr algn="l"/>
            <a:r>
              <a:rPr lang="en-US" sz="830">
                <a:solidFill>
                  <a:srgbClr val="374151"/>
                </a:solidFill>
                <a:latin typeface="Aptos"/>
                <a:ea typeface="Malgun Gothic"/>
              </a:rPr>
              <a:t>- SGW: Service Gateway</a:t>
            </a:r>
            <a:endParaRPr lang="en-US" sz="830"/>
          </a:p>
          <a:p>
            <a:pPr algn="l"/>
            <a:r>
              <a:rPr lang="en-US" sz="830">
                <a:solidFill>
                  <a:srgbClr val="374151"/>
                </a:solidFill>
                <a:latin typeface="Aptos"/>
                <a:ea typeface="Malgun Gothic"/>
              </a:rPr>
              <a:t>- 컨테이너, 라벨, 화살표, 노트는 PowerPoint에서 편집 가능한 객체입니다.</a:t>
            </a:r>
            <a:endParaRPr lang="en-US" sz="830"/>
          </a:p>
          <a:p>
            <a:pPr algn="l"/>
            <a:r>
              <a:rPr lang="en-US" sz="830">
                <a:solidFill>
                  <a:srgbClr val="374151"/>
                </a:solidFill>
                <a:latin typeface="Aptos"/>
                <a:ea typeface="Malgun Gothic"/>
              </a:rPr>
              <a:t>- OCI 서비스 아이콘은 이미지 자산으로 포함됩니다.</a:t>
            </a:r>
            <a:endParaRPr lang="en-US" sz="830"/>
          </a:p>
          <a:p>
            <a:pPr algn="l"/>
            <a:r>
              <a:rPr lang="en-US" sz="830">
                <a:solidFill>
                  <a:srgbClr val="374151"/>
                </a:solidFill>
                <a:latin typeface="Aptos"/>
                <a:ea typeface="Malgun Gothic"/>
              </a:rPr>
              <a:t>- 아키텍처 슬라이드에는 모델에 명시된 연결선만 표시했습니다.</a:t>
            </a:r>
            <a:endParaRPr lang="en-US" sz="83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Advice title"/>
          <p:cNvSpPr txBox="1"/>
          <p:nvPr/>
        </p:nvSpPr>
        <p:spPr>
          <a:xfrm>
            <a:off x="502920" y="320040"/>
            <a:ext cx="1078992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2000" b="1">
                <a:solidFill>
                  <a:srgbClr val="111827"/>
                </a:solidFill>
                <a:latin typeface="Aptos"/>
                <a:ea typeface="Malgun Gothic"/>
              </a:rPr>
              <a:t>운영 및 Best-Practice 체크포인트</a:t>
            </a:r>
            <a:endParaRPr lang="en-US" sz="2000"/>
          </a:p>
        </p:txBody>
      </p:sp>
      <p:sp>
        <p:nvSpPr>
          <p:cNvPr id="4" name="Advice subtitle"/>
          <p:cNvSpPr txBox="1"/>
          <p:nvPr/>
        </p:nvSpPr>
        <p:spPr>
          <a:xfrm>
            <a:off x="530352" y="768096"/>
            <a:ext cx="108813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919">
                <a:solidFill>
                  <a:srgbClr val="6B7280"/>
                </a:solidFill>
                <a:latin typeface="Aptos"/>
                <a:ea typeface="Malgun Gothic"/>
              </a:rPr>
              <a:t>구현 전 애플리케이션/운영/보안/DB 담당자와 함께 검토할 항목입니다.</a:t>
            </a:r>
            <a:endParaRPr lang="en-US" sz="919"/>
          </a:p>
        </p:txBody>
      </p:sp>
      <p:sp>
        <p:nvSpPr>
          <p:cNvPr id="5" name="Advice resilience box"/>
          <p:cNvSpPr/>
          <p:nvPr/>
        </p:nvSpPr>
        <p:spPr>
          <a:xfrm>
            <a:off x="566928" y="1078992"/>
            <a:ext cx="3493008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6" name="Advice resilience title"/>
          <p:cNvSpPr txBox="1"/>
          <p:nvPr/>
        </p:nvSpPr>
        <p:spPr>
          <a:xfrm>
            <a:off x="713232" y="1197864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060" b="1">
                <a:solidFill>
                  <a:srgbClr val="111827"/>
                </a:solidFill>
                <a:latin typeface="Aptos"/>
                <a:ea typeface="Malgun Gothic"/>
              </a:rPr>
              <a:t>복원력 / DR</a:t>
            </a:r>
            <a:endParaRPr lang="en-US" sz="1060"/>
          </a:p>
        </p:txBody>
      </p:sp>
      <p:sp>
        <p:nvSpPr>
          <p:cNvPr id="7" name="Advice resilience items"/>
          <p:cNvSpPr txBox="1"/>
          <p:nvPr/>
        </p:nvSpPr>
        <p:spPr>
          <a:xfrm>
            <a:off x="731520" y="1517904"/>
            <a:ext cx="3163824" cy="14813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normAutofit/>
          </a:bodyPr>
          <a:lstStyle/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FastConnect 장애 시 VPN 백업 경로로 전환되는 라우팅 정책과 우선순위를 검증하십시오.</a:t>
            </a:r>
            <a:endParaRPr lang="en-US" sz="780"/>
          </a:p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Web/App 서버는 Fault Domain 또는 Availability Domain 분산 배치를 운영 표준으로 정의하십시오.</a:t>
            </a:r>
            <a:endParaRPr lang="en-US" sz="780"/>
          </a:p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DB Service와 On-Prem Exadata 간 복제 또는 백업/복구 목표가 필요한지 결정하십시오.</a:t>
            </a:r>
            <a:endParaRPr lang="en-US" sz="780"/>
          </a:p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RTO/RPO를 정의하고 복제 모드와 매핑하십시오.</a:t>
            </a:r>
            <a:endParaRPr lang="en-US" sz="780"/>
          </a:p>
        </p:txBody>
      </p:sp>
      <p:sp>
        <p:nvSpPr>
          <p:cNvPr id="8" name="Advice security box"/>
          <p:cNvSpPr/>
          <p:nvPr/>
        </p:nvSpPr>
        <p:spPr>
          <a:xfrm>
            <a:off x="4352544" y="1078992"/>
            <a:ext cx="3493008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9" name="Advice security title"/>
          <p:cNvSpPr txBox="1"/>
          <p:nvPr/>
        </p:nvSpPr>
        <p:spPr>
          <a:xfrm>
            <a:off x="4498848" y="1197864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060" b="1">
                <a:solidFill>
                  <a:srgbClr val="111827"/>
                </a:solidFill>
                <a:latin typeface="Aptos"/>
                <a:ea typeface="Malgun Gothic"/>
              </a:rPr>
              <a:t>보안 / 네트워크</a:t>
            </a:r>
            <a:endParaRPr lang="en-US" sz="1060"/>
          </a:p>
        </p:txBody>
      </p:sp>
      <p:sp>
        <p:nvSpPr>
          <p:cNvPr id="10" name="Advice security items"/>
          <p:cNvSpPr txBox="1"/>
          <p:nvPr/>
        </p:nvSpPr>
        <p:spPr>
          <a:xfrm>
            <a:off x="4517136" y="1517904"/>
            <a:ext cx="3163824" cy="14813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normAutofit/>
          </a:bodyPr>
          <a:lstStyle/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Public ingress는 승인된 LB/WAF 통제로 종단하십시오.</a:t>
            </a:r>
            <a:endParaRPr lang="en-US" sz="780"/>
          </a:p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On-Prem CIDR, VCN CIDR, subnet CIDR이 겹치지 않도록 주소 계획을 확정하십시오.</a:t>
            </a:r>
            <a:endParaRPr lang="en-US" sz="780"/>
          </a:p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Public Load Balancer에서 Web backend로만 접근을 허용하고, Web/App/DB 서브넷은 private route만 사용하십시오.</a:t>
            </a:r>
            <a:endParaRPr lang="en-US" sz="780"/>
          </a:p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App to DB 접근은 필요한 DB 포트와 App NSG로 제한하십시오.</a:t>
            </a:r>
            <a:endParaRPr lang="en-US" sz="780"/>
          </a:p>
        </p:txBody>
      </p:sp>
      <p:sp>
        <p:nvSpPr>
          <p:cNvPr id="11" name="Advice operations box"/>
          <p:cNvSpPr/>
          <p:nvPr/>
        </p:nvSpPr>
        <p:spPr>
          <a:xfrm>
            <a:off x="8138160" y="1078992"/>
            <a:ext cx="3493008" cy="204825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2" name="Advice operations title"/>
          <p:cNvSpPr txBox="1"/>
          <p:nvPr/>
        </p:nvSpPr>
        <p:spPr>
          <a:xfrm>
            <a:off x="8284464" y="1197864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060" b="1">
                <a:solidFill>
                  <a:srgbClr val="111827"/>
                </a:solidFill>
                <a:latin typeface="Aptos"/>
                <a:ea typeface="Malgun Gothic"/>
              </a:rPr>
              <a:t>운영</a:t>
            </a:r>
            <a:endParaRPr lang="en-US" sz="1060"/>
          </a:p>
        </p:txBody>
      </p:sp>
      <p:sp>
        <p:nvSpPr>
          <p:cNvPr id="13" name="Advice operations items"/>
          <p:cNvSpPr txBox="1"/>
          <p:nvPr/>
        </p:nvSpPr>
        <p:spPr>
          <a:xfrm>
            <a:off x="8302752" y="1517904"/>
            <a:ext cx="3163824" cy="148132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normAutofit/>
          </a:bodyPr>
          <a:lstStyle/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가능한 Standby 활성화 단계는 자동화하십시오.</a:t>
            </a:r>
            <a:endParaRPr lang="en-US" sz="780"/>
          </a:p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DRG route table, VCN route table, CPE/BGP 설정 변경을 공동 변경 관리 대상으로 등록하십시오.</a:t>
            </a:r>
            <a:endParaRPr lang="en-US" sz="780"/>
          </a:p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FastConnect, VPN tunnel, DRG attachment, Load Balancer health check를 모니터링하십시오.</a:t>
            </a:r>
            <a:endParaRPr lang="en-US" sz="780"/>
          </a:p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OSN/Object Storage 접근 경로와 백업 복구 절차를 정기적으로 점검하십시오.</a:t>
            </a:r>
            <a:endParaRPr lang="en-US" sz="780"/>
          </a:p>
        </p:txBody>
      </p:sp>
      <p:sp>
        <p:nvSpPr>
          <p:cNvPr id="14" name="Advice cost box"/>
          <p:cNvSpPr/>
          <p:nvPr/>
        </p:nvSpPr>
        <p:spPr>
          <a:xfrm>
            <a:off x="566928" y="3383280"/>
            <a:ext cx="5349240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5" name="Advice cost title"/>
          <p:cNvSpPr txBox="1"/>
          <p:nvPr/>
        </p:nvSpPr>
        <p:spPr>
          <a:xfrm>
            <a:off x="713232" y="3502152"/>
            <a:ext cx="5056632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060" b="1">
                <a:solidFill>
                  <a:srgbClr val="111827"/>
                </a:solidFill>
                <a:latin typeface="Aptos"/>
                <a:ea typeface="Malgun Gothic"/>
              </a:rPr>
              <a:t>비용 / 성능</a:t>
            </a:r>
            <a:endParaRPr lang="en-US" sz="1060"/>
          </a:p>
        </p:txBody>
      </p:sp>
      <p:sp>
        <p:nvSpPr>
          <p:cNvPr id="16" name="Advice cost items"/>
          <p:cNvSpPr txBox="1"/>
          <p:nvPr/>
        </p:nvSpPr>
        <p:spPr>
          <a:xfrm>
            <a:off x="731520" y="3822192"/>
            <a:ext cx="5020056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normAutofit/>
          </a:bodyPr>
          <a:lstStyle/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FastConnect 포트/회선, VPN, NAT Gateway, Load Balancer, Object Storage 비용을 별도 산정하십시오.</a:t>
            </a:r>
            <a:endParaRPr lang="en-US" sz="780"/>
          </a:p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Web/App 이중화 기준과 DB 용량 기준을 트래픽 패턴에 맞춰 산정하십시오.</a:t>
            </a:r>
            <a:endParaRPr lang="en-US" sz="780"/>
          </a:p>
        </p:txBody>
      </p:sp>
      <p:sp>
        <p:nvSpPr>
          <p:cNvPr id="17" name="Advice open box"/>
          <p:cNvSpPr/>
          <p:nvPr/>
        </p:nvSpPr>
        <p:spPr>
          <a:xfrm>
            <a:off x="6199632" y="3383280"/>
            <a:ext cx="5431536" cy="21396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</p:sp>
      <p:sp>
        <p:nvSpPr>
          <p:cNvPr id="18" name="Advice open title"/>
          <p:cNvSpPr txBox="1"/>
          <p:nvPr/>
        </p:nvSpPr>
        <p:spPr>
          <a:xfrm>
            <a:off x="6345936" y="3502152"/>
            <a:ext cx="5138928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1060" b="1">
                <a:solidFill>
                  <a:srgbClr val="111827"/>
                </a:solidFill>
                <a:latin typeface="Aptos"/>
                <a:ea typeface="Malgun Gothic"/>
              </a:rPr>
              <a:t>확정 필요 사항</a:t>
            </a:r>
            <a:endParaRPr lang="en-US" sz="1060"/>
          </a:p>
        </p:txBody>
      </p:sp>
      <p:sp>
        <p:nvSpPr>
          <p:cNvPr id="19" name="Advice open items"/>
          <p:cNvSpPr txBox="1"/>
          <p:nvPr/>
        </p:nvSpPr>
        <p:spPr>
          <a:xfrm>
            <a:off x="6364224" y="3822192"/>
            <a:ext cx="5102352" cy="1572768"/>
          </a:xfrm>
          <a:prstGeom prst="rect">
            <a:avLst/>
          </a:prstGeom>
          <a:noFill/>
          <a:ln>
            <a:noFill/>
          </a:ln>
        </p:spPr>
        <p:txBody>
          <a:bodyPr wrap="square" anchor="t" lIns="27432" tIns="27432" rIns="27432" bIns="27432">
            <a:normAutofit/>
          </a:bodyPr>
          <a:lstStyle/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실제 OCI Region, CIDR, On-Prem CIDR</a:t>
            </a:r>
            <a:endParaRPr lang="en-US" sz="780"/>
          </a:p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FastConnect 대역폭과 BGP/정적 라우팅 정책</a:t>
            </a:r>
            <a:endParaRPr lang="en-US" sz="780"/>
          </a:p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VPN 터널 수와 암호화/라우팅 정책</a:t>
            </a:r>
            <a:endParaRPr lang="en-US" sz="780"/>
          </a:p>
          <a:p>
            <a:pPr algn="l"/>
            <a:r>
              <a:rPr lang="en-US" sz="780">
                <a:solidFill>
                  <a:srgbClr val="374151"/>
                </a:solidFill>
                <a:latin typeface="Aptos"/>
                <a:ea typeface="Malgun Gothic"/>
              </a:rPr>
              <a:t>- OCI DB subnet의 실제 DB 리소스 배치 여부</a:t>
            </a:r>
            <a:endParaRPr lang="en-US" sz="780"/>
          </a:p>
        </p:txBody>
      </p:sp>
      <p:sp>
        <p:nvSpPr>
          <p:cNvPr id="20" name="Advice footer"/>
          <p:cNvSpPr txBox="1"/>
          <p:nvPr/>
        </p:nvSpPr>
        <p:spPr>
          <a:xfrm>
            <a:off x="530352" y="6272784"/>
            <a:ext cx="109728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45720" tIns="45720" rIns="45720" bIns="45720">
            <a:normAutofit/>
          </a:bodyPr>
          <a:lstStyle/>
          <a:p>
            <a:pPr algn="l"/>
            <a:r>
              <a:rPr lang="en-US" sz="800">
                <a:solidFill>
                  <a:srgbClr val="6B7280"/>
                </a:solidFill>
                <a:latin typeface="Aptos"/>
                <a:ea typeface="Malgun Gothic"/>
              </a:rPr>
              <a:t>애플리케이션 오너, 운영팀, 보안 담당자, DB 담당자와 함께 최종 확정하십시오.</a:t>
            </a:r>
            <a:endParaRPr lang="en-US" sz="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CI Arch Theme">
  <a:themeElements>
    <a:clrScheme name="OCI Arch">
      <a:dk1>
        <a:sysClr val="windowText" lastClr="000000"/>
      </a:dk1>
      <a:lt1>
        <a:sysClr val="window" lastClr="FFFFFF"/>
      </a:lt1>
      <a:dk2>
        <a:srgbClr val="1F2937"/>
      </a:dk2>
      <a:lt2>
        <a:srgbClr val="F8FAFC"/>
      </a:lt2>
      <a:accent1>
        <a:srgbClr val="C74634"/>
      </a:accent1>
      <a:accent2>
        <a:srgbClr val="1F4E79"/>
      </a:accent2>
      <a:accent3>
        <a:srgbClr val="2E7D32"/>
      </a:accent3>
      <a:accent4>
        <a:srgbClr val="AD6800"/>
      </a:accent4>
      <a:accent5>
        <a:srgbClr val="0E7490"/>
      </a:accent5>
      <a:accent6>
        <a:srgbClr val="7C3AED"/>
      </a:accent6>
      <a:hlink>
        <a:srgbClr val="2563EB"/>
      </a:hlink>
      <a:folHlink>
        <a:srgbClr val="9333EA"/>
      </a:folHlink>
    </a:clrScheme>
    <a:fontScheme name="OCI Arch">
      <a:majorFont>
        <a:latin typeface="Aptos Display"/>
        <a:ea typeface="Malgun Gothic"/>
        <a:cs typeface="Arial"/>
      </a:majorFont>
      <a:minorFont>
        <a:latin typeface="Aptos"/>
        <a:ea typeface="Malgun Gothic"/>
        <a:cs typeface="Arial"/>
      </a:minorFont>
    </a:fontScheme>
    <a:fmtScheme name="OCI Arc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</a:schemeClr>
            </a:gs>
            <a:gs pos="100000">
              <a:schemeClr val="phClr">
                <a:lumMod val="105000"/>
                <a:sat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8000"/>
                <a:satMod val="105000"/>
              </a:schemeClr>
            </a:gs>
            <a:gs pos="100000">
              <a:schemeClr val="phClr">
                <a:lumMod val="105000"/>
                <a:satMod val="103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oci-archgen-pptx</Application>
  <PresentationFormat>On-screen Show (16:9)</PresentationFormat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On-Prem FastConnect and VPN OCI Architecture</dc:title>
  <dc:creator>oci-archgen-pptx</dc:creator>
  <cp:lastModifiedBy>oci-archgen-pptx</cp:lastModifiedBy>
  <dcterms:created xsi:type="dcterms:W3CDTF">1980-01-01T00:00:00Z</dcterms:created>
  <dcterms:modified xsi:type="dcterms:W3CDTF">1980-01-01T00:00:00Z</dcterms:modified>
</cp:coreProperties>
</file>